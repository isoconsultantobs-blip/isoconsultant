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https://maxicert.com/oman-iso-50001-energy-sector-sustainability-guide/" TargetMode="Externa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https://maxicert.com/oman-iso-50001-energy-sector-sustainability-guide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59F9F3-B1CA-4D1D-B601-6000961334D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BBB11CE-EA16-46DC-AA3B-58A867863947}">
      <dgm:prSet phldrT="[Text]"/>
      <dgm:spPr/>
      <dgm:t>
        <a:bodyPr/>
        <a:lstStyle/>
        <a:p>
          <a:r>
            <a:rPr lang="en-US" dirty="0"/>
            <a:t>Establishment of the Oman Accreditation Centre</a:t>
          </a:r>
          <a:endParaRPr lang="en-IN" dirty="0"/>
        </a:p>
      </dgm:t>
    </dgm:pt>
    <dgm:pt modelId="{1CC7F6B8-7F2A-40D0-B614-27EDC72399BA}" type="parTrans" cxnId="{63DA34E6-CF0B-484B-973D-24AE2F59974A}">
      <dgm:prSet/>
      <dgm:spPr/>
      <dgm:t>
        <a:bodyPr/>
        <a:lstStyle/>
        <a:p>
          <a:endParaRPr lang="en-IN"/>
        </a:p>
      </dgm:t>
    </dgm:pt>
    <dgm:pt modelId="{3BE085E1-2E41-492B-80AC-84AC8928A391}" type="sibTrans" cxnId="{63DA34E6-CF0B-484B-973D-24AE2F59974A}">
      <dgm:prSet/>
      <dgm:spPr/>
      <dgm:t>
        <a:bodyPr/>
        <a:lstStyle/>
        <a:p>
          <a:endParaRPr lang="en-IN"/>
        </a:p>
      </dgm:t>
    </dgm:pt>
    <dgm:pt modelId="{25F078E2-E1B6-475A-B39E-CC0FD6205B0A}">
      <dgm:prSet/>
      <dgm:spPr/>
      <dgm:t>
        <a:bodyPr/>
        <a:lstStyle/>
        <a:p>
          <a:r>
            <a:rPr lang="en-US"/>
            <a:t>Regulation of precious metals and valuable stones</a:t>
          </a:r>
          <a:endParaRPr lang="en-IN"/>
        </a:p>
      </dgm:t>
    </dgm:pt>
    <dgm:pt modelId="{03EC20A9-A2BC-45CB-8114-76779520161E}" type="parTrans" cxnId="{747A0AE7-57F7-4438-9F26-29D34AEBC2FA}">
      <dgm:prSet/>
      <dgm:spPr/>
      <dgm:t>
        <a:bodyPr/>
        <a:lstStyle/>
        <a:p>
          <a:endParaRPr lang="en-IN"/>
        </a:p>
      </dgm:t>
    </dgm:pt>
    <dgm:pt modelId="{7447F60D-2A0A-4D93-A229-99478F2B67BF}" type="sibTrans" cxnId="{747A0AE7-57F7-4438-9F26-29D34AEBC2FA}">
      <dgm:prSet/>
      <dgm:spPr/>
      <dgm:t>
        <a:bodyPr/>
        <a:lstStyle/>
        <a:p>
          <a:endParaRPr lang="en-IN"/>
        </a:p>
      </dgm:t>
    </dgm:pt>
    <dgm:pt modelId="{B47AC1C8-7286-4E6A-B5E7-5E1DC2E734D4}">
      <dgm:prSet/>
      <dgm:spPr/>
      <dgm:t>
        <a:bodyPr/>
        <a:lstStyle/>
        <a:p>
          <a:r>
            <a:rPr lang="en-US" dirty="0">
              <a:hlinkClick xmlns:r="http://schemas.openxmlformats.org/officeDocument/2006/relationships" r:id="rId1"/>
            </a:rPr>
            <a:t>Development of national conformity assessment systems</a:t>
          </a:r>
          <a:endParaRPr lang="en-IN" dirty="0"/>
        </a:p>
      </dgm:t>
    </dgm:pt>
    <dgm:pt modelId="{C2D8CF98-10BC-4FFD-9732-1759C4F6502B}" type="parTrans" cxnId="{8FCC5D78-6204-4811-B0B3-7EC576112C6A}">
      <dgm:prSet/>
      <dgm:spPr/>
      <dgm:t>
        <a:bodyPr/>
        <a:lstStyle/>
        <a:p>
          <a:endParaRPr lang="en-IN"/>
        </a:p>
      </dgm:t>
    </dgm:pt>
    <dgm:pt modelId="{71E43034-1009-4941-B364-04AD8BF6DBFC}" type="sibTrans" cxnId="{8FCC5D78-6204-4811-B0B3-7EC576112C6A}">
      <dgm:prSet/>
      <dgm:spPr/>
      <dgm:t>
        <a:bodyPr/>
        <a:lstStyle/>
        <a:p>
          <a:endParaRPr lang="en-IN"/>
        </a:p>
      </dgm:t>
    </dgm:pt>
    <dgm:pt modelId="{7C60075D-CFA2-45E7-B8F4-0024478FB010}">
      <dgm:prSet/>
      <dgm:spPr/>
      <dgm:t>
        <a:bodyPr/>
        <a:lstStyle/>
        <a:p>
          <a:r>
            <a:rPr lang="en-US" dirty="0"/>
            <a:t>Launch of the Omani Standards Store (digital repository)</a:t>
          </a:r>
          <a:endParaRPr lang="en-IN" dirty="0"/>
        </a:p>
      </dgm:t>
    </dgm:pt>
    <dgm:pt modelId="{16657F78-A5DE-4C8C-A56C-698BCF8969FF}" type="parTrans" cxnId="{96B60129-385F-499C-AEBB-13C0B7A1C79F}">
      <dgm:prSet/>
      <dgm:spPr/>
      <dgm:t>
        <a:bodyPr/>
        <a:lstStyle/>
        <a:p>
          <a:endParaRPr lang="en-IN"/>
        </a:p>
      </dgm:t>
    </dgm:pt>
    <dgm:pt modelId="{63A133B4-1768-4943-94EE-6CBA546288A2}" type="sibTrans" cxnId="{96B60129-385F-499C-AEBB-13C0B7A1C79F}">
      <dgm:prSet/>
      <dgm:spPr/>
      <dgm:t>
        <a:bodyPr/>
        <a:lstStyle/>
        <a:p>
          <a:endParaRPr lang="en-IN"/>
        </a:p>
      </dgm:t>
    </dgm:pt>
    <dgm:pt modelId="{591D4C53-C21E-47DE-9E4F-B9A77DE3A3D1}">
      <dgm:prSet/>
      <dgm:spPr/>
      <dgm:t>
        <a:bodyPr/>
        <a:lstStyle/>
        <a:p>
          <a:r>
            <a:rPr lang="en-US"/>
            <a:t>Expansion of the Omani Quality Mark for product credibility</a:t>
          </a:r>
          <a:endParaRPr lang="en-IN"/>
        </a:p>
      </dgm:t>
    </dgm:pt>
    <dgm:pt modelId="{A3C2BA74-6F04-4FD6-AB67-1D9C24C276C6}" type="parTrans" cxnId="{64218C22-4DA2-4A57-A2E8-5FEA673F883B}">
      <dgm:prSet/>
      <dgm:spPr/>
      <dgm:t>
        <a:bodyPr/>
        <a:lstStyle/>
        <a:p>
          <a:endParaRPr lang="en-IN"/>
        </a:p>
      </dgm:t>
    </dgm:pt>
    <dgm:pt modelId="{B80F7D4F-4AE2-476B-B4D8-6A01F66B4E8A}" type="sibTrans" cxnId="{64218C22-4DA2-4A57-A2E8-5FEA673F883B}">
      <dgm:prSet/>
      <dgm:spPr/>
      <dgm:t>
        <a:bodyPr/>
        <a:lstStyle/>
        <a:p>
          <a:endParaRPr lang="en-IN"/>
        </a:p>
      </dgm:t>
    </dgm:pt>
    <dgm:pt modelId="{C50D0F00-3556-400F-B0F1-8D318DB27B5F}" type="pres">
      <dgm:prSet presAssocID="{F559F9F3-B1CA-4D1D-B601-6000961334DF}" presName="linear" presStyleCnt="0">
        <dgm:presLayoutVars>
          <dgm:dir/>
          <dgm:animLvl val="lvl"/>
          <dgm:resizeHandles val="exact"/>
        </dgm:presLayoutVars>
      </dgm:prSet>
      <dgm:spPr/>
    </dgm:pt>
    <dgm:pt modelId="{813A694B-BD44-4505-BF91-8ECC71A21278}" type="pres">
      <dgm:prSet presAssocID="{0BBB11CE-EA16-46DC-AA3B-58A867863947}" presName="parentLin" presStyleCnt="0"/>
      <dgm:spPr/>
    </dgm:pt>
    <dgm:pt modelId="{3C26C374-732A-4265-92D4-42A6A47E1994}" type="pres">
      <dgm:prSet presAssocID="{0BBB11CE-EA16-46DC-AA3B-58A867863947}" presName="parentLeftMargin" presStyleLbl="node1" presStyleIdx="0" presStyleCnt="5"/>
      <dgm:spPr/>
    </dgm:pt>
    <dgm:pt modelId="{284A54FB-5A36-473B-9DCE-68A07AAE1DEF}" type="pres">
      <dgm:prSet presAssocID="{0BBB11CE-EA16-46DC-AA3B-58A86786394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D13E079-7E9F-49D3-A8A5-E17D3B323BE6}" type="pres">
      <dgm:prSet presAssocID="{0BBB11CE-EA16-46DC-AA3B-58A867863947}" presName="negativeSpace" presStyleCnt="0"/>
      <dgm:spPr/>
    </dgm:pt>
    <dgm:pt modelId="{96B1D7A4-31C5-4FBC-94DF-9990828384BD}" type="pres">
      <dgm:prSet presAssocID="{0BBB11CE-EA16-46DC-AA3B-58A867863947}" presName="childText" presStyleLbl="conFgAcc1" presStyleIdx="0" presStyleCnt="5">
        <dgm:presLayoutVars>
          <dgm:bulletEnabled val="1"/>
        </dgm:presLayoutVars>
      </dgm:prSet>
      <dgm:spPr/>
    </dgm:pt>
    <dgm:pt modelId="{73AB5450-0069-4B6C-973F-0E7EB3A80B03}" type="pres">
      <dgm:prSet presAssocID="{3BE085E1-2E41-492B-80AC-84AC8928A391}" presName="spaceBetweenRectangles" presStyleCnt="0"/>
      <dgm:spPr/>
    </dgm:pt>
    <dgm:pt modelId="{1F905919-0BA6-45CD-BD23-4DA142E65CA4}" type="pres">
      <dgm:prSet presAssocID="{7C60075D-CFA2-45E7-B8F4-0024478FB010}" presName="parentLin" presStyleCnt="0"/>
      <dgm:spPr/>
    </dgm:pt>
    <dgm:pt modelId="{AF619C3F-AAC9-4797-88F4-7FEA632B7527}" type="pres">
      <dgm:prSet presAssocID="{7C60075D-CFA2-45E7-B8F4-0024478FB010}" presName="parentLeftMargin" presStyleLbl="node1" presStyleIdx="0" presStyleCnt="5"/>
      <dgm:spPr/>
    </dgm:pt>
    <dgm:pt modelId="{ACFCE2A1-46B0-46BB-A1A9-CEB95207CC60}" type="pres">
      <dgm:prSet presAssocID="{7C60075D-CFA2-45E7-B8F4-0024478FB01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4DEEA37-076B-4ED3-8831-609129EC584B}" type="pres">
      <dgm:prSet presAssocID="{7C60075D-CFA2-45E7-B8F4-0024478FB010}" presName="negativeSpace" presStyleCnt="0"/>
      <dgm:spPr/>
    </dgm:pt>
    <dgm:pt modelId="{1CDA918A-2CE7-4623-8F03-7DFEB1F20AEA}" type="pres">
      <dgm:prSet presAssocID="{7C60075D-CFA2-45E7-B8F4-0024478FB010}" presName="childText" presStyleLbl="conFgAcc1" presStyleIdx="1" presStyleCnt="5">
        <dgm:presLayoutVars>
          <dgm:bulletEnabled val="1"/>
        </dgm:presLayoutVars>
      </dgm:prSet>
      <dgm:spPr/>
    </dgm:pt>
    <dgm:pt modelId="{AD976A71-1A3F-4AC3-85D0-F8E6652FB5DC}" type="pres">
      <dgm:prSet presAssocID="{63A133B4-1768-4943-94EE-6CBA546288A2}" presName="spaceBetweenRectangles" presStyleCnt="0"/>
      <dgm:spPr/>
    </dgm:pt>
    <dgm:pt modelId="{2DD35985-F39B-452B-959E-23F378A1295D}" type="pres">
      <dgm:prSet presAssocID="{B47AC1C8-7286-4E6A-B5E7-5E1DC2E734D4}" presName="parentLin" presStyleCnt="0"/>
      <dgm:spPr/>
    </dgm:pt>
    <dgm:pt modelId="{E9057C9D-A32D-458E-8FDA-E5D835A79707}" type="pres">
      <dgm:prSet presAssocID="{B47AC1C8-7286-4E6A-B5E7-5E1DC2E734D4}" presName="parentLeftMargin" presStyleLbl="node1" presStyleIdx="1" presStyleCnt="5"/>
      <dgm:spPr/>
    </dgm:pt>
    <dgm:pt modelId="{59CEAF6E-778C-44C9-A611-4108FF93E484}" type="pres">
      <dgm:prSet presAssocID="{B47AC1C8-7286-4E6A-B5E7-5E1DC2E734D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BA6246C-6429-402E-9F90-6810187EABEC}" type="pres">
      <dgm:prSet presAssocID="{B47AC1C8-7286-4E6A-B5E7-5E1DC2E734D4}" presName="negativeSpace" presStyleCnt="0"/>
      <dgm:spPr/>
    </dgm:pt>
    <dgm:pt modelId="{93854FA6-9354-4065-AE22-D88CADC9D2FC}" type="pres">
      <dgm:prSet presAssocID="{B47AC1C8-7286-4E6A-B5E7-5E1DC2E734D4}" presName="childText" presStyleLbl="conFgAcc1" presStyleIdx="2" presStyleCnt="5">
        <dgm:presLayoutVars>
          <dgm:bulletEnabled val="1"/>
        </dgm:presLayoutVars>
      </dgm:prSet>
      <dgm:spPr/>
    </dgm:pt>
    <dgm:pt modelId="{CCDC80B4-2CFE-408D-B382-6CD940DA5DF9}" type="pres">
      <dgm:prSet presAssocID="{71E43034-1009-4941-B364-04AD8BF6DBFC}" presName="spaceBetweenRectangles" presStyleCnt="0"/>
      <dgm:spPr/>
    </dgm:pt>
    <dgm:pt modelId="{63FBADE3-408F-4080-B813-B553E591926D}" type="pres">
      <dgm:prSet presAssocID="{25F078E2-E1B6-475A-B39E-CC0FD6205B0A}" presName="parentLin" presStyleCnt="0"/>
      <dgm:spPr/>
    </dgm:pt>
    <dgm:pt modelId="{C64E530D-9694-4DE9-875A-BA8492F1B018}" type="pres">
      <dgm:prSet presAssocID="{25F078E2-E1B6-475A-B39E-CC0FD6205B0A}" presName="parentLeftMargin" presStyleLbl="node1" presStyleIdx="2" presStyleCnt="5"/>
      <dgm:spPr/>
    </dgm:pt>
    <dgm:pt modelId="{5EC3346A-9CD4-44E3-84B0-850E63DCC33F}" type="pres">
      <dgm:prSet presAssocID="{25F078E2-E1B6-475A-B39E-CC0FD6205B0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9B270EC-469E-44BA-BB2A-A8F61111AD45}" type="pres">
      <dgm:prSet presAssocID="{25F078E2-E1B6-475A-B39E-CC0FD6205B0A}" presName="negativeSpace" presStyleCnt="0"/>
      <dgm:spPr/>
    </dgm:pt>
    <dgm:pt modelId="{4D4E5C13-5F80-4353-87AE-DB064FF9DC0F}" type="pres">
      <dgm:prSet presAssocID="{25F078E2-E1B6-475A-B39E-CC0FD6205B0A}" presName="childText" presStyleLbl="conFgAcc1" presStyleIdx="3" presStyleCnt="5">
        <dgm:presLayoutVars>
          <dgm:bulletEnabled val="1"/>
        </dgm:presLayoutVars>
      </dgm:prSet>
      <dgm:spPr/>
    </dgm:pt>
    <dgm:pt modelId="{61D602AE-F794-4AB8-BE6C-12C7CE2B9674}" type="pres">
      <dgm:prSet presAssocID="{7447F60D-2A0A-4D93-A229-99478F2B67BF}" presName="spaceBetweenRectangles" presStyleCnt="0"/>
      <dgm:spPr/>
    </dgm:pt>
    <dgm:pt modelId="{9E076EC0-36D0-49F5-8BDA-AC13A2DAF318}" type="pres">
      <dgm:prSet presAssocID="{591D4C53-C21E-47DE-9E4F-B9A77DE3A3D1}" presName="parentLin" presStyleCnt="0"/>
      <dgm:spPr/>
    </dgm:pt>
    <dgm:pt modelId="{9C7FC53E-814D-4A9A-BFDF-399D7CCEE548}" type="pres">
      <dgm:prSet presAssocID="{591D4C53-C21E-47DE-9E4F-B9A77DE3A3D1}" presName="parentLeftMargin" presStyleLbl="node1" presStyleIdx="3" presStyleCnt="5"/>
      <dgm:spPr/>
    </dgm:pt>
    <dgm:pt modelId="{0097EECC-2625-4132-BC45-7E7E9B1DD81B}" type="pres">
      <dgm:prSet presAssocID="{591D4C53-C21E-47DE-9E4F-B9A77DE3A3D1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99FF50B2-BF75-494F-9111-594FC9B39BCB}" type="pres">
      <dgm:prSet presAssocID="{591D4C53-C21E-47DE-9E4F-B9A77DE3A3D1}" presName="negativeSpace" presStyleCnt="0"/>
      <dgm:spPr/>
    </dgm:pt>
    <dgm:pt modelId="{C155092F-AC39-4C0E-A367-12AD9BE79114}" type="pres">
      <dgm:prSet presAssocID="{591D4C53-C21E-47DE-9E4F-B9A77DE3A3D1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CA699F18-BC19-48A5-8471-A324A0D4A03A}" type="presOf" srcId="{7C60075D-CFA2-45E7-B8F4-0024478FB010}" destId="{AF619C3F-AAC9-4797-88F4-7FEA632B7527}" srcOrd="0" destOrd="0" presId="urn:microsoft.com/office/officeart/2005/8/layout/list1"/>
    <dgm:cxn modelId="{9DFDE51A-1092-427F-8CAC-D848468332F7}" type="presOf" srcId="{591D4C53-C21E-47DE-9E4F-B9A77DE3A3D1}" destId="{9C7FC53E-814D-4A9A-BFDF-399D7CCEE548}" srcOrd="0" destOrd="0" presId="urn:microsoft.com/office/officeart/2005/8/layout/list1"/>
    <dgm:cxn modelId="{64218C22-4DA2-4A57-A2E8-5FEA673F883B}" srcId="{F559F9F3-B1CA-4D1D-B601-6000961334DF}" destId="{591D4C53-C21E-47DE-9E4F-B9A77DE3A3D1}" srcOrd="4" destOrd="0" parTransId="{A3C2BA74-6F04-4FD6-AB67-1D9C24C276C6}" sibTransId="{B80F7D4F-4AE2-476B-B4D8-6A01F66B4E8A}"/>
    <dgm:cxn modelId="{5248A322-2588-40AF-B723-3CAF90EA43F7}" type="presOf" srcId="{25F078E2-E1B6-475A-B39E-CC0FD6205B0A}" destId="{5EC3346A-9CD4-44E3-84B0-850E63DCC33F}" srcOrd="1" destOrd="0" presId="urn:microsoft.com/office/officeart/2005/8/layout/list1"/>
    <dgm:cxn modelId="{96EBC728-332C-497F-8C4D-B14E6620BC4B}" type="presOf" srcId="{591D4C53-C21E-47DE-9E4F-B9A77DE3A3D1}" destId="{0097EECC-2625-4132-BC45-7E7E9B1DD81B}" srcOrd="1" destOrd="0" presId="urn:microsoft.com/office/officeart/2005/8/layout/list1"/>
    <dgm:cxn modelId="{96B60129-385F-499C-AEBB-13C0B7A1C79F}" srcId="{F559F9F3-B1CA-4D1D-B601-6000961334DF}" destId="{7C60075D-CFA2-45E7-B8F4-0024478FB010}" srcOrd="1" destOrd="0" parTransId="{16657F78-A5DE-4C8C-A56C-698BCF8969FF}" sibTransId="{63A133B4-1768-4943-94EE-6CBA546288A2}"/>
    <dgm:cxn modelId="{8C0F6536-986D-4BCF-B22E-AFE9C1E74B72}" type="presOf" srcId="{7C60075D-CFA2-45E7-B8F4-0024478FB010}" destId="{ACFCE2A1-46B0-46BB-A1A9-CEB95207CC60}" srcOrd="1" destOrd="0" presId="urn:microsoft.com/office/officeart/2005/8/layout/list1"/>
    <dgm:cxn modelId="{E3DF0067-5163-4BA5-B6D8-0961407B34CB}" type="presOf" srcId="{0BBB11CE-EA16-46DC-AA3B-58A867863947}" destId="{3C26C374-732A-4265-92D4-42A6A47E1994}" srcOrd="0" destOrd="0" presId="urn:microsoft.com/office/officeart/2005/8/layout/list1"/>
    <dgm:cxn modelId="{6AB0446D-9597-4DF3-BB69-161FDD5B1B57}" type="presOf" srcId="{B47AC1C8-7286-4E6A-B5E7-5E1DC2E734D4}" destId="{59CEAF6E-778C-44C9-A611-4108FF93E484}" srcOrd="1" destOrd="0" presId="urn:microsoft.com/office/officeart/2005/8/layout/list1"/>
    <dgm:cxn modelId="{D868114E-DA5A-4A83-A232-66DA54B20DAE}" type="presOf" srcId="{0BBB11CE-EA16-46DC-AA3B-58A867863947}" destId="{284A54FB-5A36-473B-9DCE-68A07AAE1DEF}" srcOrd="1" destOrd="0" presId="urn:microsoft.com/office/officeart/2005/8/layout/list1"/>
    <dgm:cxn modelId="{8FCC5D78-6204-4811-B0B3-7EC576112C6A}" srcId="{F559F9F3-B1CA-4D1D-B601-6000961334DF}" destId="{B47AC1C8-7286-4E6A-B5E7-5E1DC2E734D4}" srcOrd="2" destOrd="0" parTransId="{C2D8CF98-10BC-4FFD-9732-1759C4F6502B}" sibTransId="{71E43034-1009-4941-B364-04AD8BF6DBFC}"/>
    <dgm:cxn modelId="{229E17D8-6BF1-4DA8-A815-E45A71831214}" type="presOf" srcId="{F559F9F3-B1CA-4D1D-B601-6000961334DF}" destId="{C50D0F00-3556-400F-B0F1-8D318DB27B5F}" srcOrd="0" destOrd="0" presId="urn:microsoft.com/office/officeart/2005/8/layout/list1"/>
    <dgm:cxn modelId="{0CEB4BD9-46F4-4107-BE70-09875AFDF70F}" type="presOf" srcId="{25F078E2-E1B6-475A-B39E-CC0FD6205B0A}" destId="{C64E530D-9694-4DE9-875A-BA8492F1B018}" srcOrd="0" destOrd="0" presId="urn:microsoft.com/office/officeart/2005/8/layout/list1"/>
    <dgm:cxn modelId="{63DA34E6-CF0B-484B-973D-24AE2F59974A}" srcId="{F559F9F3-B1CA-4D1D-B601-6000961334DF}" destId="{0BBB11CE-EA16-46DC-AA3B-58A867863947}" srcOrd="0" destOrd="0" parTransId="{1CC7F6B8-7F2A-40D0-B614-27EDC72399BA}" sibTransId="{3BE085E1-2E41-492B-80AC-84AC8928A391}"/>
    <dgm:cxn modelId="{747A0AE7-57F7-4438-9F26-29D34AEBC2FA}" srcId="{F559F9F3-B1CA-4D1D-B601-6000961334DF}" destId="{25F078E2-E1B6-475A-B39E-CC0FD6205B0A}" srcOrd="3" destOrd="0" parTransId="{03EC20A9-A2BC-45CB-8114-76779520161E}" sibTransId="{7447F60D-2A0A-4D93-A229-99478F2B67BF}"/>
    <dgm:cxn modelId="{622F64F7-7930-446E-A87D-E953E243D132}" type="presOf" srcId="{B47AC1C8-7286-4E6A-B5E7-5E1DC2E734D4}" destId="{E9057C9D-A32D-458E-8FDA-E5D835A79707}" srcOrd="0" destOrd="0" presId="urn:microsoft.com/office/officeart/2005/8/layout/list1"/>
    <dgm:cxn modelId="{EF16D664-C38B-4C11-8AFD-074DDE4AA7B0}" type="presParOf" srcId="{C50D0F00-3556-400F-B0F1-8D318DB27B5F}" destId="{813A694B-BD44-4505-BF91-8ECC71A21278}" srcOrd="0" destOrd="0" presId="urn:microsoft.com/office/officeart/2005/8/layout/list1"/>
    <dgm:cxn modelId="{7C478598-7847-46C3-AC36-779B9F6E5A16}" type="presParOf" srcId="{813A694B-BD44-4505-BF91-8ECC71A21278}" destId="{3C26C374-732A-4265-92D4-42A6A47E1994}" srcOrd="0" destOrd="0" presId="urn:microsoft.com/office/officeart/2005/8/layout/list1"/>
    <dgm:cxn modelId="{A27FB012-E53C-4F95-8ACF-3FD796D4755E}" type="presParOf" srcId="{813A694B-BD44-4505-BF91-8ECC71A21278}" destId="{284A54FB-5A36-473B-9DCE-68A07AAE1DEF}" srcOrd="1" destOrd="0" presId="urn:microsoft.com/office/officeart/2005/8/layout/list1"/>
    <dgm:cxn modelId="{C1A99061-211A-455B-8512-A2BE69D6C5FE}" type="presParOf" srcId="{C50D0F00-3556-400F-B0F1-8D318DB27B5F}" destId="{ED13E079-7E9F-49D3-A8A5-E17D3B323BE6}" srcOrd="1" destOrd="0" presId="urn:microsoft.com/office/officeart/2005/8/layout/list1"/>
    <dgm:cxn modelId="{BB7275BE-3B9E-4AA7-A2BA-D6D10E911E57}" type="presParOf" srcId="{C50D0F00-3556-400F-B0F1-8D318DB27B5F}" destId="{96B1D7A4-31C5-4FBC-94DF-9990828384BD}" srcOrd="2" destOrd="0" presId="urn:microsoft.com/office/officeart/2005/8/layout/list1"/>
    <dgm:cxn modelId="{705C6BDC-720A-4615-BB81-79A120A5EE6A}" type="presParOf" srcId="{C50D0F00-3556-400F-B0F1-8D318DB27B5F}" destId="{73AB5450-0069-4B6C-973F-0E7EB3A80B03}" srcOrd="3" destOrd="0" presId="urn:microsoft.com/office/officeart/2005/8/layout/list1"/>
    <dgm:cxn modelId="{1CCB8561-1772-40AA-9449-AE5E8520427B}" type="presParOf" srcId="{C50D0F00-3556-400F-B0F1-8D318DB27B5F}" destId="{1F905919-0BA6-45CD-BD23-4DA142E65CA4}" srcOrd="4" destOrd="0" presId="urn:microsoft.com/office/officeart/2005/8/layout/list1"/>
    <dgm:cxn modelId="{5A763447-B476-4809-AED9-1AD5FCC3E848}" type="presParOf" srcId="{1F905919-0BA6-45CD-BD23-4DA142E65CA4}" destId="{AF619C3F-AAC9-4797-88F4-7FEA632B7527}" srcOrd="0" destOrd="0" presId="urn:microsoft.com/office/officeart/2005/8/layout/list1"/>
    <dgm:cxn modelId="{6379E0F4-8209-4FDE-98E8-C31001EC2A35}" type="presParOf" srcId="{1F905919-0BA6-45CD-BD23-4DA142E65CA4}" destId="{ACFCE2A1-46B0-46BB-A1A9-CEB95207CC60}" srcOrd="1" destOrd="0" presId="urn:microsoft.com/office/officeart/2005/8/layout/list1"/>
    <dgm:cxn modelId="{A283001D-BF8D-4518-B8CD-8FB22A299D06}" type="presParOf" srcId="{C50D0F00-3556-400F-B0F1-8D318DB27B5F}" destId="{24DEEA37-076B-4ED3-8831-609129EC584B}" srcOrd="5" destOrd="0" presId="urn:microsoft.com/office/officeart/2005/8/layout/list1"/>
    <dgm:cxn modelId="{8BB96EDE-C83A-49EC-B0CD-0A08F22FCA00}" type="presParOf" srcId="{C50D0F00-3556-400F-B0F1-8D318DB27B5F}" destId="{1CDA918A-2CE7-4623-8F03-7DFEB1F20AEA}" srcOrd="6" destOrd="0" presId="urn:microsoft.com/office/officeart/2005/8/layout/list1"/>
    <dgm:cxn modelId="{974914E7-2C21-49A0-A3F7-E22AE8E2A9CA}" type="presParOf" srcId="{C50D0F00-3556-400F-B0F1-8D318DB27B5F}" destId="{AD976A71-1A3F-4AC3-85D0-F8E6652FB5DC}" srcOrd="7" destOrd="0" presId="urn:microsoft.com/office/officeart/2005/8/layout/list1"/>
    <dgm:cxn modelId="{75361D0A-6497-4456-8666-75FECA790934}" type="presParOf" srcId="{C50D0F00-3556-400F-B0F1-8D318DB27B5F}" destId="{2DD35985-F39B-452B-959E-23F378A1295D}" srcOrd="8" destOrd="0" presId="urn:microsoft.com/office/officeart/2005/8/layout/list1"/>
    <dgm:cxn modelId="{C04BBB62-F608-4E39-B0FB-5F2EF3A7BEB6}" type="presParOf" srcId="{2DD35985-F39B-452B-959E-23F378A1295D}" destId="{E9057C9D-A32D-458E-8FDA-E5D835A79707}" srcOrd="0" destOrd="0" presId="urn:microsoft.com/office/officeart/2005/8/layout/list1"/>
    <dgm:cxn modelId="{7ED5E2E2-CB54-48DA-81C1-6EEE8DEB480D}" type="presParOf" srcId="{2DD35985-F39B-452B-959E-23F378A1295D}" destId="{59CEAF6E-778C-44C9-A611-4108FF93E484}" srcOrd="1" destOrd="0" presId="urn:microsoft.com/office/officeart/2005/8/layout/list1"/>
    <dgm:cxn modelId="{9CE2A0F9-1E62-463B-97E7-1DD262D5B98E}" type="presParOf" srcId="{C50D0F00-3556-400F-B0F1-8D318DB27B5F}" destId="{0BA6246C-6429-402E-9F90-6810187EABEC}" srcOrd="9" destOrd="0" presId="urn:microsoft.com/office/officeart/2005/8/layout/list1"/>
    <dgm:cxn modelId="{C22E47A2-5084-4058-8A62-39918717AC8E}" type="presParOf" srcId="{C50D0F00-3556-400F-B0F1-8D318DB27B5F}" destId="{93854FA6-9354-4065-AE22-D88CADC9D2FC}" srcOrd="10" destOrd="0" presId="urn:microsoft.com/office/officeart/2005/8/layout/list1"/>
    <dgm:cxn modelId="{47C55A66-5F3D-459F-BCEA-EDEFC8E12D0B}" type="presParOf" srcId="{C50D0F00-3556-400F-B0F1-8D318DB27B5F}" destId="{CCDC80B4-2CFE-408D-B382-6CD940DA5DF9}" srcOrd="11" destOrd="0" presId="urn:microsoft.com/office/officeart/2005/8/layout/list1"/>
    <dgm:cxn modelId="{92041699-91A3-41B5-B4C8-285EF09A4849}" type="presParOf" srcId="{C50D0F00-3556-400F-B0F1-8D318DB27B5F}" destId="{63FBADE3-408F-4080-B813-B553E591926D}" srcOrd="12" destOrd="0" presId="urn:microsoft.com/office/officeart/2005/8/layout/list1"/>
    <dgm:cxn modelId="{72081CAB-DFE1-41C0-9E48-B650255FB9DA}" type="presParOf" srcId="{63FBADE3-408F-4080-B813-B553E591926D}" destId="{C64E530D-9694-4DE9-875A-BA8492F1B018}" srcOrd="0" destOrd="0" presId="urn:microsoft.com/office/officeart/2005/8/layout/list1"/>
    <dgm:cxn modelId="{C705DA70-93FF-4CB6-8735-A20915FCB917}" type="presParOf" srcId="{63FBADE3-408F-4080-B813-B553E591926D}" destId="{5EC3346A-9CD4-44E3-84B0-850E63DCC33F}" srcOrd="1" destOrd="0" presId="urn:microsoft.com/office/officeart/2005/8/layout/list1"/>
    <dgm:cxn modelId="{779E3DB3-BA9A-4738-A6C1-76555AA3A3C9}" type="presParOf" srcId="{C50D0F00-3556-400F-B0F1-8D318DB27B5F}" destId="{19B270EC-469E-44BA-BB2A-A8F61111AD45}" srcOrd="13" destOrd="0" presId="urn:microsoft.com/office/officeart/2005/8/layout/list1"/>
    <dgm:cxn modelId="{D3B23DFD-1757-48C6-A902-42129B68383A}" type="presParOf" srcId="{C50D0F00-3556-400F-B0F1-8D318DB27B5F}" destId="{4D4E5C13-5F80-4353-87AE-DB064FF9DC0F}" srcOrd="14" destOrd="0" presId="urn:microsoft.com/office/officeart/2005/8/layout/list1"/>
    <dgm:cxn modelId="{FADAC128-F324-4451-8AD9-FB08888DE606}" type="presParOf" srcId="{C50D0F00-3556-400F-B0F1-8D318DB27B5F}" destId="{61D602AE-F794-4AB8-BE6C-12C7CE2B9674}" srcOrd="15" destOrd="0" presId="urn:microsoft.com/office/officeart/2005/8/layout/list1"/>
    <dgm:cxn modelId="{A21B1AC0-A4C4-43DA-953D-A19E01E0EEBA}" type="presParOf" srcId="{C50D0F00-3556-400F-B0F1-8D318DB27B5F}" destId="{9E076EC0-36D0-49F5-8BDA-AC13A2DAF318}" srcOrd="16" destOrd="0" presId="urn:microsoft.com/office/officeart/2005/8/layout/list1"/>
    <dgm:cxn modelId="{A6F7198D-0EB9-4CD4-B76A-4EAC2726D2E3}" type="presParOf" srcId="{9E076EC0-36D0-49F5-8BDA-AC13A2DAF318}" destId="{9C7FC53E-814D-4A9A-BFDF-399D7CCEE548}" srcOrd="0" destOrd="0" presId="urn:microsoft.com/office/officeart/2005/8/layout/list1"/>
    <dgm:cxn modelId="{E78F3542-B8B5-4B20-8DDE-13902305C3D7}" type="presParOf" srcId="{9E076EC0-36D0-49F5-8BDA-AC13A2DAF318}" destId="{0097EECC-2625-4132-BC45-7E7E9B1DD81B}" srcOrd="1" destOrd="0" presId="urn:microsoft.com/office/officeart/2005/8/layout/list1"/>
    <dgm:cxn modelId="{F78FB91B-B1B5-4804-AF9B-F110548A0293}" type="presParOf" srcId="{C50D0F00-3556-400F-B0F1-8D318DB27B5F}" destId="{99FF50B2-BF75-494F-9111-594FC9B39BCB}" srcOrd="17" destOrd="0" presId="urn:microsoft.com/office/officeart/2005/8/layout/list1"/>
    <dgm:cxn modelId="{E6872C37-1BEA-48BF-A240-5BCB8800F85C}" type="presParOf" srcId="{C50D0F00-3556-400F-B0F1-8D318DB27B5F}" destId="{C155092F-AC39-4C0E-A367-12AD9BE79114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559F9F3-B1CA-4D1D-B601-6000961334D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50D0F00-3556-400F-B0F1-8D318DB27B5F}" type="pres">
      <dgm:prSet presAssocID="{F559F9F3-B1CA-4D1D-B601-6000961334DF}" presName="linear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229E17D8-6BF1-4DA8-A815-E45A71831214}" type="presOf" srcId="{F559F9F3-B1CA-4D1D-B601-6000961334DF}" destId="{C50D0F00-3556-400F-B0F1-8D318DB27B5F}" srcOrd="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6628B94-1E49-4184-9B79-2D91DE6B7EB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0"/>
      <dgm:spPr/>
    </dgm:pt>
    <dgm:pt modelId="{ED6BB48E-BE3E-4085-972F-89A54D1B3929}" type="pres">
      <dgm:prSet presAssocID="{36628B94-1E49-4184-9B79-2D91DE6B7EB2}" presName="linearFlow" presStyleCnt="0">
        <dgm:presLayoutVars>
          <dgm:dir/>
          <dgm:resizeHandles val="exact"/>
        </dgm:presLayoutVars>
      </dgm:prSet>
      <dgm:spPr/>
    </dgm:pt>
  </dgm:ptLst>
  <dgm:cxnLst>
    <dgm:cxn modelId="{AC03E52F-6C52-4B7D-833E-29744CF092B1}" type="presOf" srcId="{36628B94-1E49-4184-9B79-2D91DE6B7EB2}" destId="{ED6BB48E-BE3E-4085-972F-89A54D1B3929}" srcOrd="0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A99EF4B-B21D-475A-8E64-E586C0812FA4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66CB5D5-48E7-4F15-97F5-68416BD6CB16}">
      <dgm:prSet/>
      <dgm:spPr/>
      <dgm:t>
        <a:bodyPr/>
        <a:lstStyle/>
        <a:p>
          <a:r>
            <a:rPr lang="en-US"/>
            <a:t>Implementation of a Quality Management System aligned with ISO 9001</a:t>
          </a:r>
          <a:endParaRPr lang="en-IN"/>
        </a:p>
      </dgm:t>
    </dgm:pt>
    <dgm:pt modelId="{403C22FA-8956-4D7E-B213-E3B47E167C30}" type="parTrans" cxnId="{AFD9ADFA-9A74-44DC-A9DA-0C903EB1B92B}">
      <dgm:prSet/>
      <dgm:spPr/>
      <dgm:t>
        <a:bodyPr/>
        <a:lstStyle/>
        <a:p>
          <a:endParaRPr lang="en-IN"/>
        </a:p>
      </dgm:t>
    </dgm:pt>
    <dgm:pt modelId="{232A617B-3563-4FCD-97AF-7667692CB033}" type="sibTrans" cxnId="{AFD9ADFA-9A74-44DC-A9DA-0C903EB1B92B}">
      <dgm:prSet/>
      <dgm:spPr/>
      <dgm:t>
        <a:bodyPr/>
        <a:lstStyle/>
        <a:p>
          <a:endParaRPr lang="en-IN"/>
        </a:p>
      </dgm:t>
    </dgm:pt>
    <dgm:pt modelId="{69119AB7-1D73-4D2A-AB5E-05742D619C92}">
      <dgm:prSet/>
      <dgm:spPr/>
      <dgm:t>
        <a:bodyPr/>
        <a:lstStyle/>
        <a:p>
          <a:r>
            <a:rPr lang="en-US"/>
            <a:t>Development of National Strategy for Standardisation and Quality (2026–2030)</a:t>
          </a:r>
          <a:endParaRPr lang="en-IN"/>
        </a:p>
      </dgm:t>
    </dgm:pt>
    <dgm:pt modelId="{EBDFBE8F-61A0-4C89-A479-237A4F29E7B0}" type="parTrans" cxnId="{884BE87A-88A5-4541-BB26-8374152A784B}">
      <dgm:prSet/>
      <dgm:spPr/>
      <dgm:t>
        <a:bodyPr/>
        <a:lstStyle/>
        <a:p>
          <a:endParaRPr lang="en-IN"/>
        </a:p>
      </dgm:t>
    </dgm:pt>
    <dgm:pt modelId="{F7AFC003-C0FA-4F38-B1FA-71A5E0FCF93F}" type="sibTrans" cxnId="{884BE87A-88A5-4541-BB26-8374152A784B}">
      <dgm:prSet/>
      <dgm:spPr/>
      <dgm:t>
        <a:bodyPr/>
        <a:lstStyle/>
        <a:p>
          <a:endParaRPr lang="en-IN"/>
        </a:p>
      </dgm:t>
    </dgm:pt>
    <dgm:pt modelId="{B7F42D4E-74C6-4564-8D70-4CF6E14866BC}">
      <dgm:prSet/>
      <dgm:spPr/>
      <dgm:t>
        <a:bodyPr/>
        <a:lstStyle/>
        <a:p>
          <a:r>
            <a:rPr lang="en-US"/>
            <a:t>Alignment of national regulations with international ISO standards</a:t>
          </a:r>
          <a:endParaRPr lang="en-IN"/>
        </a:p>
      </dgm:t>
    </dgm:pt>
    <dgm:pt modelId="{A73640D0-C5EB-4854-AC85-DA0FB4A2B763}" type="parTrans" cxnId="{2F9F1376-4919-475F-B289-755A558CDA5D}">
      <dgm:prSet/>
      <dgm:spPr/>
      <dgm:t>
        <a:bodyPr/>
        <a:lstStyle/>
        <a:p>
          <a:endParaRPr lang="en-IN"/>
        </a:p>
      </dgm:t>
    </dgm:pt>
    <dgm:pt modelId="{470D6E6A-0026-4E38-8070-25EDB2CD8B51}" type="sibTrans" cxnId="{2F9F1376-4919-475F-B289-755A558CDA5D}">
      <dgm:prSet/>
      <dgm:spPr/>
      <dgm:t>
        <a:bodyPr/>
        <a:lstStyle/>
        <a:p>
          <a:endParaRPr lang="en-IN"/>
        </a:p>
      </dgm:t>
    </dgm:pt>
    <dgm:pt modelId="{2E6CF991-4D5D-4560-91BF-91A5DA1645A4}">
      <dgm:prSet/>
      <dgm:spPr/>
      <dgm:t>
        <a:bodyPr/>
        <a:lstStyle/>
        <a:p>
          <a:r>
            <a:rPr lang="en-US"/>
            <a:t>Strong focus on consistency, efficiency, and global acceptance</a:t>
          </a:r>
          <a:endParaRPr lang="en-IN"/>
        </a:p>
      </dgm:t>
    </dgm:pt>
    <dgm:pt modelId="{7AC482B1-8C0E-419A-99C8-5E4C27C23725}" type="parTrans" cxnId="{59238095-6645-4DED-8606-3D8B251F3494}">
      <dgm:prSet/>
      <dgm:spPr/>
      <dgm:t>
        <a:bodyPr/>
        <a:lstStyle/>
        <a:p>
          <a:endParaRPr lang="en-IN"/>
        </a:p>
      </dgm:t>
    </dgm:pt>
    <dgm:pt modelId="{AF4DC00A-D748-4472-8533-3C9E937F4A72}" type="sibTrans" cxnId="{59238095-6645-4DED-8606-3D8B251F3494}">
      <dgm:prSet/>
      <dgm:spPr/>
      <dgm:t>
        <a:bodyPr/>
        <a:lstStyle/>
        <a:p>
          <a:endParaRPr lang="en-IN"/>
        </a:p>
      </dgm:t>
    </dgm:pt>
    <dgm:pt modelId="{E6160176-5001-4B56-9F5C-311C9C8B136E}" type="pres">
      <dgm:prSet presAssocID="{AA99EF4B-B21D-475A-8E64-E586C0812FA4}" presName="outerComposite" presStyleCnt="0">
        <dgm:presLayoutVars>
          <dgm:chMax val="5"/>
          <dgm:dir/>
          <dgm:resizeHandles val="exact"/>
        </dgm:presLayoutVars>
      </dgm:prSet>
      <dgm:spPr/>
    </dgm:pt>
    <dgm:pt modelId="{1AB9B4B1-C88E-4356-B35B-D2F0FC9B58C5}" type="pres">
      <dgm:prSet presAssocID="{AA99EF4B-B21D-475A-8E64-E586C0812FA4}" presName="dummyMaxCanvas" presStyleCnt="0">
        <dgm:presLayoutVars/>
      </dgm:prSet>
      <dgm:spPr/>
    </dgm:pt>
    <dgm:pt modelId="{1BFA4AA4-E055-4970-9F89-F3B671C7310D}" type="pres">
      <dgm:prSet presAssocID="{AA99EF4B-B21D-475A-8E64-E586C0812FA4}" presName="FourNodes_1" presStyleLbl="node1" presStyleIdx="0" presStyleCnt="4">
        <dgm:presLayoutVars>
          <dgm:bulletEnabled val="1"/>
        </dgm:presLayoutVars>
      </dgm:prSet>
      <dgm:spPr/>
    </dgm:pt>
    <dgm:pt modelId="{820F13B0-7068-435C-8448-D2EE836B4FBE}" type="pres">
      <dgm:prSet presAssocID="{AA99EF4B-B21D-475A-8E64-E586C0812FA4}" presName="FourNodes_2" presStyleLbl="node1" presStyleIdx="1" presStyleCnt="4">
        <dgm:presLayoutVars>
          <dgm:bulletEnabled val="1"/>
        </dgm:presLayoutVars>
      </dgm:prSet>
      <dgm:spPr/>
    </dgm:pt>
    <dgm:pt modelId="{E270B0DB-3505-4282-9723-B047F3A187B0}" type="pres">
      <dgm:prSet presAssocID="{AA99EF4B-B21D-475A-8E64-E586C0812FA4}" presName="FourNodes_3" presStyleLbl="node1" presStyleIdx="2" presStyleCnt="4">
        <dgm:presLayoutVars>
          <dgm:bulletEnabled val="1"/>
        </dgm:presLayoutVars>
      </dgm:prSet>
      <dgm:spPr/>
    </dgm:pt>
    <dgm:pt modelId="{B8630572-2DAD-4CE8-B25A-940F0F9100D4}" type="pres">
      <dgm:prSet presAssocID="{AA99EF4B-B21D-475A-8E64-E586C0812FA4}" presName="FourNodes_4" presStyleLbl="node1" presStyleIdx="3" presStyleCnt="4">
        <dgm:presLayoutVars>
          <dgm:bulletEnabled val="1"/>
        </dgm:presLayoutVars>
      </dgm:prSet>
      <dgm:spPr/>
    </dgm:pt>
    <dgm:pt modelId="{FA5ED4BE-2CDF-4945-B41C-430437850A0A}" type="pres">
      <dgm:prSet presAssocID="{AA99EF4B-B21D-475A-8E64-E586C0812FA4}" presName="FourConn_1-2" presStyleLbl="fgAccFollowNode1" presStyleIdx="0" presStyleCnt="3">
        <dgm:presLayoutVars>
          <dgm:bulletEnabled val="1"/>
        </dgm:presLayoutVars>
      </dgm:prSet>
      <dgm:spPr/>
    </dgm:pt>
    <dgm:pt modelId="{85BEA168-8569-4639-BE0A-7500555B3518}" type="pres">
      <dgm:prSet presAssocID="{AA99EF4B-B21D-475A-8E64-E586C0812FA4}" presName="FourConn_2-3" presStyleLbl="fgAccFollowNode1" presStyleIdx="1" presStyleCnt="3">
        <dgm:presLayoutVars>
          <dgm:bulletEnabled val="1"/>
        </dgm:presLayoutVars>
      </dgm:prSet>
      <dgm:spPr/>
    </dgm:pt>
    <dgm:pt modelId="{1F59CCEC-84CD-4FC7-A4C6-477574A6ECBC}" type="pres">
      <dgm:prSet presAssocID="{AA99EF4B-B21D-475A-8E64-E586C0812FA4}" presName="FourConn_3-4" presStyleLbl="fgAccFollowNode1" presStyleIdx="2" presStyleCnt="3">
        <dgm:presLayoutVars>
          <dgm:bulletEnabled val="1"/>
        </dgm:presLayoutVars>
      </dgm:prSet>
      <dgm:spPr/>
    </dgm:pt>
    <dgm:pt modelId="{6779DA8C-6523-4A05-917C-1D2B11DA8B04}" type="pres">
      <dgm:prSet presAssocID="{AA99EF4B-B21D-475A-8E64-E586C0812FA4}" presName="FourNodes_1_text" presStyleLbl="node1" presStyleIdx="3" presStyleCnt="4">
        <dgm:presLayoutVars>
          <dgm:bulletEnabled val="1"/>
        </dgm:presLayoutVars>
      </dgm:prSet>
      <dgm:spPr/>
    </dgm:pt>
    <dgm:pt modelId="{62B59BC3-871E-4E8B-BD90-2D1D8EC0408A}" type="pres">
      <dgm:prSet presAssocID="{AA99EF4B-B21D-475A-8E64-E586C0812FA4}" presName="FourNodes_2_text" presStyleLbl="node1" presStyleIdx="3" presStyleCnt="4">
        <dgm:presLayoutVars>
          <dgm:bulletEnabled val="1"/>
        </dgm:presLayoutVars>
      </dgm:prSet>
      <dgm:spPr/>
    </dgm:pt>
    <dgm:pt modelId="{0D09A7C9-9AC5-4DAF-B0A0-E8C131AD9B6E}" type="pres">
      <dgm:prSet presAssocID="{AA99EF4B-B21D-475A-8E64-E586C0812FA4}" presName="FourNodes_3_text" presStyleLbl="node1" presStyleIdx="3" presStyleCnt="4">
        <dgm:presLayoutVars>
          <dgm:bulletEnabled val="1"/>
        </dgm:presLayoutVars>
      </dgm:prSet>
      <dgm:spPr/>
    </dgm:pt>
    <dgm:pt modelId="{060373A2-0130-46D4-8C81-BB55C342BF59}" type="pres">
      <dgm:prSet presAssocID="{AA99EF4B-B21D-475A-8E64-E586C0812FA4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09842805-C1B3-4FFB-A320-FFEEB8B557BA}" type="presOf" srcId="{066CB5D5-48E7-4F15-97F5-68416BD6CB16}" destId="{820F13B0-7068-435C-8448-D2EE836B4FBE}" srcOrd="0" destOrd="0" presId="urn:microsoft.com/office/officeart/2005/8/layout/vProcess5"/>
    <dgm:cxn modelId="{65672F12-203D-43F3-BB0C-6652D3ED2694}" type="presOf" srcId="{232A617B-3563-4FCD-97AF-7667692CB033}" destId="{85BEA168-8569-4639-BE0A-7500555B3518}" srcOrd="0" destOrd="0" presId="urn:microsoft.com/office/officeart/2005/8/layout/vProcess5"/>
    <dgm:cxn modelId="{89046B38-0E5E-4F27-9949-E14B64CA5ADA}" type="presOf" srcId="{2E6CF991-4D5D-4560-91BF-91A5DA1645A4}" destId="{E270B0DB-3505-4282-9723-B047F3A187B0}" srcOrd="0" destOrd="0" presId="urn:microsoft.com/office/officeart/2005/8/layout/vProcess5"/>
    <dgm:cxn modelId="{330FC85E-A100-454C-9C6A-3AC3A7C4763E}" type="presOf" srcId="{F7AFC003-C0FA-4F38-B1FA-71A5E0FCF93F}" destId="{FA5ED4BE-2CDF-4945-B41C-430437850A0A}" srcOrd="0" destOrd="0" presId="urn:microsoft.com/office/officeart/2005/8/layout/vProcess5"/>
    <dgm:cxn modelId="{2F9F1376-4919-475F-B289-755A558CDA5D}" srcId="{AA99EF4B-B21D-475A-8E64-E586C0812FA4}" destId="{B7F42D4E-74C6-4564-8D70-4CF6E14866BC}" srcOrd="3" destOrd="0" parTransId="{A73640D0-C5EB-4854-AC85-DA0FB4A2B763}" sibTransId="{470D6E6A-0026-4E38-8070-25EDB2CD8B51}"/>
    <dgm:cxn modelId="{884BE87A-88A5-4541-BB26-8374152A784B}" srcId="{AA99EF4B-B21D-475A-8E64-E586C0812FA4}" destId="{69119AB7-1D73-4D2A-AB5E-05742D619C92}" srcOrd="0" destOrd="0" parTransId="{EBDFBE8F-61A0-4C89-A479-237A4F29E7B0}" sibTransId="{F7AFC003-C0FA-4F38-B1FA-71A5E0FCF93F}"/>
    <dgm:cxn modelId="{6EDD2089-126A-4265-A938-FF3D29379A27}" type="presOf" srcId="{066CB5D5-48E7-4F15-97F5-68416BD6CB16}" destId="{62B59BC3-871E-4E8B-BD90-2D1D8EC0408A}" srcOrd="1" destOrd="0" presId="urn:microsoft.com/office/officeart/2005/8/layout/vProcess5"/>
    <dgm:cxn modelId="{5BB93292-2CF1-4D7E-AE2A-507CC3F4DD45}" type="presOf" srcId="{69119AB7-1D73-4D2A-AB5E-05742D619C92}" destId="{1BFA4AA4-E055-4970-9F89-F3B671C7310D}" srcOrd="0" destOrd="0" presId="urn:microsoft.com/office/officeart/2005/8/layout/vProcess5"/>
    <dgm:cxn modelId="{59238095-6645-4DED-8606-3D8B251F3494}" srcId="{AA99EF4B-B21D-475A-8E64-E586C0812FA4}" destId="{2E6CF991-4D5D-4560-91BF-91A5DA1645A4}" srcOrd="2" destOrd="0" parTransId="{7AC482B1-8C0E-419A-99C8-5E4C27C23725}" sibTransId="{AF4DC00A-D748-4472-8533-3C9E937F4A72}"/>
    <dgm:cxn modelId="{2F78359F-BA13-431F-93D5-4E038A3907EC}" type="presOf" srcId="{AF4DC00A-D748-4472-8533-3C9E937F4A72}" destId="{1F59CCEC-84CD-4FC7-A4C6-477574A6ECBC}" srcOrd="0" destOrd="0" presId="urn:microsoft.com/office/officeart/2005/8/layout/vProcess5"/>
    <dgm:cxn modelId="{C1A249AE-6FFC-469D-9B65-63505B88ADDD}" type="presOf" srcId="{B7F42D4E-74C6-4564-8D70-4CF6E14866BC}" destId="{B8630572-2DAD-4CE8-B25A-940F0F9100D4}" srcOrd="0" destOrd="0" presId="urn:microsoft.com/office/officeart/2005/8/layout/vProcess5"/>
    <dgm:cxn modelId="{F5A6A1B4-2BEF-4514-9A77-7CC8C164ACB9}" type="presOf" srcId="{AA99EF4B-B21D-475A-8E64-E586C0812FA4}" destId="{E6160176-5001-4B56-9F5C-311C9C8B136E}" srcOrd="0" destOrd="0" presId="urn:microsoft.com/office/officeart/2005/8/layout/vProcess5"/>
    <dgm:cxn modelId="{E44B33C5-4A20-4084-941E-891394FDE7E3}" type="presOf" srcId="{69119AB7-1D73-4D2A-AB5E-05742D619C92}" destId="{6779DA8C-6523-4A05-917C-1D2B11DA8B04}" srcOrd="1" destOrd="0" presId="urn:microsoft.com/office/officeart/2005/8/layout/vProcess5"/>
    <dgm:cxn modelId="{5906C0CB-06BF-4BBA-8FCA-8198DF1A71AB}" type="presOf" srcId="{2E6CF991-4D5D-4560-91BF-91A5DA1645A4}" destId="{0D09A7C9-9AC5-4DAF-B0A0-E8C131AD9B6E}" srcOrd="1" destOrd="0" presId="urn:microsoft.com/office/officeart/2005/8/layout/vProcess5"/>
    <dgm:cxn modelId="{AFD9ADFA-9A74-44DC-A9DA-0C903EB1B92B}" srcId="{AA99EF4B-B21D-475A-8E64-E586C0812FA4}" destId="{066CB5D5-48E7-4F15-97F5-68416BD6CB16}" srcOrd="1" destOrd="0" parTransId="{403C22FA-8956-4D7E-B213-E3B47E167C30}" sibTransId="{232A617B-3563-4FCD-97AF-7667692CB033}"/>
    <dgm:cxn modelId="{1A310DFE-DC6A-4E03-80DE-0D627CAE424A}" type="presOf" srcId="{B7F42D4E-74C6-4564-8D70-4CF6E14866BC}" destId="{060373A2-0130-46D4-8C81-BB55C342BF59}" srcOrd="1" destOrd="0" presId="urn:microsoft.com/office/officeart/2005/8/layout/vProcess5"/>
    <dgm:cxn modelId="{7FDE7989-D04D-4F9A-94E2-D8CF693246AE}" type="presParOf" srcId="{E6160176-5001-4B56-9F5C-311C9C8B136E}" destId="{1AB9B4B1-C88E-4356-B35B-D2F0FC9B58C5}" srcOrd="0" destOrd="0" presId="urn:microsoft.com/office/officeart/2005/8/layout/vProcess5"/>
    <dgm:cxn modelId="{260ABB9D-99F2-41D5-A17B-539E471A33F7}" type="presParOf" srcId="{E6160176-5001-4B56-9F5C-311C9C8B136E}" destId="{1BFA4AA4-E055-4970-9F89-F3B671C7310D}" srcOrd="1" destOrd="0" presId="urn:microsoft.com/office/officeart/2005/8/layout/vProcess5"/>
    <dgm:cxn modelId="{C67A5653-3DA0-442C-814D-DDA3B8FDA6E9}" type="presParOf" srcId="{E6160176-5001-4B56-9F5C-311C9C8B136E}" destId="{820F13B0-7068-435C-8448-D2EE836B4FBE}" srcOrd="2" destOrd="0" presId="urn:microsoft.com/office/officeart/2005/8/layout/vProcess5"/>
    <dgm:cxn modelId="{190E4712-A255-4F3D-9B87-006063315A33}" type="presParOf" srcId="{E6160176-5001-4B56-9F5C-311C9C8B136E}" destId="{E270B0DB-3505-4282-9723-B047F3A187B0}" srcOrd="3" destOrd="0" presId="urn:microsoft.com/office/officeart/2005/8/layout/vProcess5"/>
    <dgm:cxn modelId="{7ACC5D3B-8C3D-4608-B301-846646580A91}" type="presParOf" srcId="{E6160176-5001-4B56-9F5C-311C9C8B136E}" destId="{B8630572-2DAD-4CE8-B25A-940F0F9100D4}" srcOrd="4" destOrd="0" presId="urn:microsoft.com/office/officeart/2005/8/layout/vProcess5"/>
    <dgm:cxn modelId="{F2DAA9E6-72CF-4225-8268-C52BEFE53B1E}" type="presParOf" srcId="{E6160176-5001-4B56-9F5C-311C9C8B136E}" destId="{FA5ED4BE-2CDF-4945-B41C-430437850A0A}" srcOrd="5" destOrd="0" presId="urn:microsoft.com/office/officeart/2005/8/layout/vProcess5"/>
    <dgm:cxn modelId="{03029FFC-F6D1-4C75-9130-497B96F175EB}" type="presParOf" srcId="{E6160176-5001-4B56-9F5C-311C9C8B136E}" destId="{85BEA168-8569-4639-BE0A-7500555B3518}" srcOrd="6" destOrd="0" presId="urn:microsoft.com/office/officeart/2005/8/layout/vProcess5"/>
    <dgm:cxn modelId="{160F5332-5E91-4DD3-B645-A6BC2BC66C3D}" type="presParOf" srcId="{E6160176-5001-4B56-9F5C-311C9C8B136E}" destId="{1F59CCEC-84CD-4FC7-A4C6-477574A6ECBC}" srcOrd="7" destOrd="0" presId="urn:microsoft.com/office/officeart/2005/8/layout/vProcess5"/>
    <dgm:cxn modelId="{2341E32D-BA6C-4E19-9266-61831F2DCBC7}" type="presParOf" srcId="{E6160176-5001-4B56-9F5C-311C9C8B136E}" destId="{6779DA8C-6523-4A05-917C-1D2B11DA8B04}" srcOrd="8" destOrd="0" presId="urn:microsoft.com/office/officeart/2005/8/layout/vProcess5"/>
    <dgm:cxn modelId="{25DB91CF-556E-4F0F-A257-2ACDDF0B3FAF}" type="presParOf" srcId="{E6160176-5001-4B56-9F5C-311C9C8B136E}" destId="{62B59BC3-871E-4E8B-BD90-2D1D8EC0408A}" srcOrd="9" destOrd="0" presId="urn:microsoft.com/office/officeart/2005/8/layout/vProcess5"/>
    <dgm:cxn modelId="{CF84EFD4-3100-456F-901E-5BDF62615BCF}" type="presParOf" srcId="{E6160176-5001-4B56-9F5C-311C9C8B136E}" destId="{0D09A7C9-9AC5-4DAF-B0A0-E8C131AD9B6E}" srcOrd="10" destOrd="0" presId="urn:microsoft.com/office/officeart/2005/8/layout/vProcess5"/>
    <dgm:cxn modelId="{EEBD41D5-1A07-49BF-9403-7DEC1D563AC0}" type="presParOf" srcId="{E6160176-5001-4B56-9F5C-311C9C8B136E}" destId="{060373A2-0130-46D4-8C81-BB55C342BF5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B1D7A4-31C5-4FBC-94DF-9990828384BD}">
      <dsp:nvSpPr>
        <dsp:cNvPr id="0" name=""/>
        <dsp:cNvSpPr/>
      </dsp:nvSpPr>
      <dsp:spPr>
        <a:xfrm>
          <a:off x="0" y="1213603"/>
          <a:ext cx="81280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4A54FB-5A36-473B-9DCE-68A07AAE1DEF}">
      <dsp:nvSpPr>
        <dsp:cNvPr id="0" name=""/>
        <dsp:cNvSpPr/>
      </dsp:nvSpPr>
      <dsp:spPr>
        <a:xfrm>
          <a:off x="406400" y="977443"/>
          <a:ext cx="568960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Establishment of the Oman Accreditation Centre</a:t>
          </a:r>
          <a:endParaRPr lang="en-IN" sz="1600" kern="1200" dirty="0"/>
        </a:p>
      </dsp:txBody>
      <dsp:txXfrm>
        <a:off x="429457" y="1000500"/>
        <a:ext cx="5643486" cy="426206"/>
      </dsp:txXfrm>
    </dsp:sp>
    <dsp:sp modelId="{1CDA918A-2CE7-4623-8F03-7DFEB1F20AEA}">
      <dsp:nvSpPr>
        <dsp:cNvPr id="0" name=""/>
        <dsp:cNvSpPr/>
      </dsp:nvSpPr>
      <dsp:spPr>
        <a:xfrm>
          <a:off x="0" y="1939363"/>
          <a:ext cx="81280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FCE2A1-46B0-46BB-A1A9-CEB95207CC60}">
      <dsp:nvSpPr>
        <dsp:cNvPr id="0" name=""/>
        <dsp:cNvSpPr/>
      </dsp:nvSpPr>
      <dsp:spPr>
        <a:xfrm>
          <a:off x="406400" y="1703203"/>
          <a:ext cx="568960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Launch of the Omani Standards Store (digital repository)</a:t>
          </a:r>
          <a:endParaRPr lang="en-IN" sz="1600" kern="1200" dirty="0"/>
        </a:p>
      </dsp:txBody>
      <dsp:txXfrm>
        <a:off x="429457" y="1726260"/>
        <a:ext cx="5643486" cy="426206"/>
      </dsp:txXfrm>
    </dsp:sp>
    <dsp:sp modelId="{93854FA6-9354-4065-AE22-D88CADC9D2FC}">
      <dsp:nvSpPr>
        <dsp:cNvPr id="0" name=""/>
        <dsp:cNvSpPr/>
      </dsp:nvSpPr>
      <dsp:spPr>
        <a:xfrm>
          <a:off x="0" y="2665122"/>
          <a:ext cx="81280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CEAF6E-778C-44C9-A611-4108FF93E484}">
      <dsp:nvSpPr>
        <dsp:cNvPr id="0" name=""/>
        <dsp:cNvSpPr/>
      </dsp:nvSpPr>
      <dsp:spPr>
        <a:xfrm>
          <a:off x="406400" y="2428963"/>
          <a:ext cx="568960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hlinkClick xmlns:r="http://schemas.openxmlformats.org/officeDocument/2006/relationships" r:id="rId1"/>
            </a:rPr>
            <a:t>Development of national conformity assessment systems</a:t>
          </a:r>
          <a:endParaRPr lang="en-IN" sz="1600" kern="1200" dirty="0"/>
        </a:p>
      </dsp:txBody>
      <dsp:txXfrm>
        <a:off x="429457" y="2452020"/>
        <a:ext cx="5643486" cy="426206"/>
      </dsp:txXfrm>
    </dsp:sp>
    <dsp:sp modelId="{4D4E5C13-5F80-4353-87AE-DB064FF9DC0F}">
      <dsp:nvSpPr>
        <dsp:cNvPr id="0" name=""/>
        <dsp:cNvSpPr/>
      </dsp:nvSpPr>
      <dsp:spPr>
        <a:xfrm>
          <a:off x="0" y="3390883"/>
          <a:ext cx="81280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C3346A-9CD4-44E3-84B0-850E63DCC33F}">
      <dsp:nvSpPr>
        <dsp:cNvPr id="0" name=""/>
        <dsp:cNvSpPr/>
      </dsp:nvSpPr>
      <dsp:spPr>
        <a:xfrm>
          <a:off x="406400" y="3154722"/>
          <a:ext cx="568960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Regulation of precious metals and valuable stones</a:t>
          </a:r>
          <a:endParaRPr lang="en-IN" sz="1600" kern="1200"/>
        </a:p>
      </dsp:txBody>
      <dsp:txXfrm>
        <a:off x="429457" y="3177779"/>
        <a:ext cx="5643486" cy="426206"/>
      </dsp:txXfrm>
    </dsp:sp>
    <dsp:sp modelId="{C155092F-AC39-4C0E-A367-12AD9BE79114}">
      <dsp:nvSpPr>
        <dsp:cNvPr id="0" name=""/>
        <dsp:cNvSpPr/>
      </dsp:nvSpPr>
      <dsp:spPr>
        <a:xfrm>
          <a:off x="0" y="4116643"/>
          <a:ext cx="81280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97EECC-2625-4132-BC45-7E7E9B1DD81B}">
      <dsp:nvSpPr>
        <dsp:cNvPr id="0" name=""/>
        <dsp:cNvSpPr/>
      </dsp:nvSpPr>
      <dsp:spPr>
        <a:xfrm>
          <a:off x="406400" y="3880483"/>
          <a:ext cx="568960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Expansion of the Omani Quality Mark for product credibility</a:t>
          </a:r>
          <a:endParaRPr lang="en-IN" sz="1600" kern="1200"/>
        </a:p>
      </dsp:txBody>
      <dsp:txXfrm>
        <a:off x="429457" y="3903540"/>
        <a:ext cx="5643486" cy="4262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FA4AA4-E055-4970-9F89-F3B671C7310D}">
      <dsp:nvSpPr>
        <dsp:cNvPr id="0" name=""/>
        <dsp:cNvSpPr/>
      </dsp:nvSpPr>
      <dsp:spPr>
        <a:xfrm>
          <a:off x="0" y="0"/>
          <a:ext cx="6502400" cy="10811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Development of National Strategy for Standardisation and Quality (2026–2030)</a:t>
          </a:r>
          <a:endParaRPr lang="en-IN" sz="2200" kern="1200"/>
        </a:p>
      </dsp:txBody>
      <dsp:txXfrm>
        <a:off x="31667" y="31667"/>
        <a:ext cx="5244364" cy="1017844"/>
      </dsp:txXfrm>
    </dsp:sp>
    <dsp:sp modelId="{820F13B0-7068-435C-8448-D2EE836B4FBE}">
      <dsp:nvSpPr>
        <dsp:cNvPr id="0" name=""/>
        <dsp:cNvSpPr/>
      </dsp:nvSpPr>
      <dsp:spPr>
        <a:xfrm>
          <a:off x="544575" y="1277755"/>
          <a:ext cx="6502400" cy="10811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Implementation of a Quality Management System aligned with ISO 9001</a:t>
          </a:r>
          <a:endParaRPr lang="en-IN" sz="2200" kern="1200"/>
        </a:p>
      </dsp:txBody>
      <dsp:txXfrm>
        <a:off x="576242" y="1309422"/>
        <a:ext cx="5191724" cy="1017844"/>
      </dsp:txXfrm>
    </dsp:sp>
    <dsp:sp modelId="{E270B0DB-3505-4282-9723-B047F3A187B0}">
      <dsp:nvSpPr>
        <dsp:cNvPr id="0" name=""/>
        <dsp:cNvSpPr/>
      </dsp:nvSpPr>
      <dsp:spPr>
        <a:xfrm>
          <a:off x="1081024" y="2555511"/>
          <a:ext cx="6502400" cy="10811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Strong focus on consistency, efficiency, and global acceptance</a:t>
          </a:r>
          <a:endParaRPr lang="en-IN" sz="2200" kern="1200"/>
        </a:p>
      </dsp:txBody>
      <dsp:txXfrm>
        <a:off x="1112691" y="2587178"/>
        <a:ext cx="5199852" cy="1017844"/>
      </dsp:txXfrm>
    </dsp:sp>
    <dsp:sp modelId="{B8630572-2DAD-4CE8-B25A-940F0F9100D4}">
      <dsp:nvSpPr>
        <dsp:cNvPr id="0" name=""/>
        <dsp:cNvSpPr/>
      </dsp:nvSpPr>
      <dsp:spPr>
        <a:xfrm>
          <a:off x="1625599" y="3833267"/>
          <a:ext cx="6502400" cy="10811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Alignment of national regulations with international ISO standards</a:t>
          </a:r>
          <a:endParaRPr lang="en-IN" sz="2200" kern="1200"/>
        </a:p>
      </dsp:txBody>
      <dsp:txXfrm>
        <a:off x="1657266" y="3864934"/>
        <a:ext cx="5191724" cy="1017844"/>
      </dsp:txXfrm>
    </dsp:sp>
    <dsp:sp modelId="{FA5ED4BE-2CDF-4945-B41C-430437850A0A}">
      <dsp:nvSpPr>
        <dsp:cNvPr id="0" name=""/>
        <dsp:cNvSpPr/>
      </dsp:nvSpPr>
      <dsp:spPr>
        <a:xfrm>
          <a:off x="5799634" y="828084"/>
          <a:ext cx="702765" cy="70276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200" kern="1200"/>
        </a:p>
      </dsp:txBody>
      <dsp:txXfrm>
        <a:off x="5957756" y="828084"/>
        <a:ext cx="386521" cy="528831"/>
      </dsp:txXfrm>
    </dsp:sp>
    <dsp:sp modelId="{85BEA168-8569-4639-BE0A-7500555B3518}">
      <dsp:nvSpPr>
        <dsp:cNvPr id="0" name=""/>
        <dsp:cNvSpPr/>
      </dsp:nvSpPr>
      <dsp:spPr>
        <a:xfrm>
          <a:off x="6344210" y="2105840"/>
          <a:ext cx="702765" cy="70276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200" kern="1200"/>
        </a:p>
      </dsp:txBody>
      <dsp:txXfrm>
        <a:off x="6502332" y="2105840"/>
        <a:ext cx="386521" cy="528831"/>
      </dsp:txXfrm>
    </dsp:sp>
    <dsp:sp modelId="{1F59CCEC-84CD-4FC7-A4C6-477574A6ECBC}">
      <dsp:nvSpPr>
        <dsp:cNvPr id="0" name=""/>
        <dsp:cNvSpPr/>
      </dsp:nvSpPr>
      <dsp:spPr>
        <a:xfrm>
          <a:off x="6880658" y="3383596"/>
          <a:ext cx="702765" cy="70276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200" kern="1200"/>
        </a:p>
      </dsp:txBody>
      <dsp:txXfrm>
        <a:off x="7038780" y="3383596"/>
        <a:ext cx="386521" cy="5288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A5A8-3B30-4C4A-9224-27D4EF829864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D474-A9FE-4648-939F-BC13DFA35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45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A5A8-3B30-4C4A-9224-27D4EF829864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D474-A9FE-4648-939F-BC13DFA35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639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A5A8-3B30-4C4A-9224-27D4EF829864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D474-A9FE-4648-939F-BC13DFA35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556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A5A8-3B30-4C4A-9224-27D4EF829864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D474-A9FE-4648-939F-BC13DFA35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595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A5A8-3B30-4C4A-9224-27D4EF829864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D474-A9FE-4648-939F-BC13DFA35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943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A5A8-3B30-4C4A-9224-27D4EF829864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D474-A9FE-4648-939F-BC13DFA35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5957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A5A8-3B30-4C4A-9224-27D4EF829864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D474-A9FE-4648-939F-BC13DFA35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515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A5A8-3B30-4C4A-9224-27D4EF829864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D474-A9FE-4648-939F-BC13DFA35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742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A5A8-3B30-4C4A-9224-27D4EF829864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D474-A9FE-4648-939F-BC13DFA35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43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A5A8-3B30-4C4A-9224-27D4EF829864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D474-A9FE-4648-939F-BC13DFA35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196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A5A8-3B30-4C4A-9224-27D4EF829864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D474-A9FE-4648-939F-BC13DFA35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747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A5A8-3B30-4C4A-9224-27D4EF829864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D474-A9FE-4648-939F-BC13DFA35A2B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8096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A5A8-3B30-4C4A-9224-27D4EF829864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D474-A9FE-4648-939F-BC13DFA35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124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A5A8-3B30-4C4A-9224-27D4EF829864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D474-A9FE-4648-939F-BC13DFA35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1945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A5A8-3B30-4C4A-9224-27D4EF829864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D474-A9FE-4648-939F-BC13DFA35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617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A5A8-3B30-4C4A-9224-27D4EF829864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D474-A9FE-4648-939F-BC13DFA35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7915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A5A8-3B30-4C4A-9224-27D4EF829864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D474-A9FE-4648-939F-BC13DFA35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732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E768A5A8-3B30-4C4A-9224-27D4EF829864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C02ED474-A9FE-4648-939F-BC13DFA35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1571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maxicert.com/oman-iso-internal-audit-guide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maxicert.com/oman-iso-22301-business-continuity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maxicert.com/oman-iso-13485-certification-medical-qms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maxicert.com/oman-iso-9001-certification-process-benefits-guide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F5A0B29-1421-11D2-3F61-1D776AC8942B}"/>
              </a:ext>
            </a:extLst>
          </p:cNvPr>
          <p:cNvSpPr txBox="1"/>
          <p:nvPr/>
        </p:nvSpPr>
        <p:spPr>
          <a:xfrm>
            <a:off x="451757" y="378262"/>
            <a:ext cx="1128848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Oman’s Upgraded National Quality Framework &amp; Its Impact on </a:t>
            </a:r>
          </a:p>
          <a:p>
            <a:pPr algn="ctr"/>
            <a:r>
              <a:rPr lang="en-US" sz="5400" dirty="0"/>
              <a:t>ISO-Certified Businesses</a:t>
            </a:r>
            <a:endParaRPr lang="en-IN" sz="5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99E0AA-6EA4-2A4F-080B-039F1A1403B8}"/>
              </a:ext>
            </a:extLst>
          </p:cNvPr>
          <p:cNvSpPr txBox="1"/>
          <p:nvPr/>
        </p:nvSpPr>
        <p:spPr>
          <a:xfrm>
            <a:off x="9296400" y="5410200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</a:t>
            </a:r>
          </a:p>
          <a:p>
            <a:r>
              <a:rPr lang="en-US" dirty="0"/>
              <a:t>www.maxicert.com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B98D8C-5101-DA70-2BBF-05A92957D039}"/>
              </a:ext>
            </a:extLst>
          </p:cNvPr>
          <p:cNvSpPr txBox="1"/>
          <p:nvPr/>
        </p:nvSpPr>
        <p:spPr>
          <a:xfrm>
            <a:off x="1121229" y="3615669"/>
            <a:ext cx="10014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hlinkClick r:id="rId2"/>
              </a:rPr>
              <a:t>Aligning with International Standards | Oman Vision 2040</a:t>
            </a:r>
            <a:endParaRPr lang="en-IN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EA4857-1C5C-8415-97A7-84B66A37A1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757" y="4427635"/>
            <a:ext cx="1813906" cy="1773113"/>
          </a:xfrm>
          <a:prstGeom prst="rect">
            <a:avLst/>
          </a:prstGeom>
        </p:spPr>
      </p:pic>
      <p:pic>
        <p:nvPicPr>
          <p:cNvPr id="1028" name="Picture 4" descr="Maxicert-logo">
            <a:extLst>
              <a:ext uri="{FF2B5EF4-FFF2-40B4-BE49-F238E27FC236}">
                <a16:creationId xmlns:a16="http://schemas.microsoft.com/office/drawing/2014/main" id="{B0926509-1976-E99A-CAEA-535781D48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1914" y="4790973"/>
            <a:ext cx="3407229" cy="1064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0827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301E4-01C7-D212-F770-22814BD00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E64E83-5707-E8AD-F83B-F3140424E501}"/>
              </a:ext>
            </a:extLst>
          </p:cNvPr>
          <p:cNvSpPr txBox="1"/>
          <p:nvPr/>
        </p:nvSpPr>
        <p:spPr>
          <a:xfrm>
            <a:off x="1338943" y="1066799"/>
            <a:ext cx="5910943" cy="51046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Background &amp; Vision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dirty="0"/>
              <a:t>Oman’s National Quality Framework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dirty="0"/>
              <a:t>Key Achievements &amp; Strategic Projects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dirty="0">
                <a:hlinkClick r:id="rId2"/>
              </a:rPr>
              <a:t>Impact on ISO-Certified Businesses</a:t>
            </a:r>
            <a:endParaRPr lang="en-IN" dirty="0"/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dirty="0"/>
              <a:t>Role of Digital Transformation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dirty="0"/>
              <a:t>Why This Matters for Businesses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dirty="0"/>
              <a:t>How </a:t>
            </a:r>
            <a:r>
              <a:rPr lang="en-IN" dirty="0" err="1"/>
              <a:t>MaxiCert</a:t>
            </a:r>
            <a:r>
              <a:rPr lang="en-IN" dirty="0"/>
              <a:t> Supports Organizations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dirty="0"/>
              <a:t>Conclusion &amp; Call to 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072FFB-7949-8850-B8EE-D4BE89806FF7}"/>
              </a:ext>
            </a:extLst>
          </p:cNvPr>
          <p:cNvSpPr txBox="1"/>
          <p:nvPr/>
        </p:nvSpPr>
        <p:spPr>
          <a:xfrm>
            <a:off x="5399314" y="317266"/>
            <a:ext cx="1709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Agenda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3340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A5534A-EB19-A5F8-905E-CA313C742AC9}"/>
              </a:ext>
            </a:extLst>
          </p:cNvPr>
          <p:cNvSpPr txBox="1"/>
          <p:nvPr/>
        </p:nvSpPr>
        <p:spPr>
          <a:xfrm>
            <a:off x="3733801" y="500743"/>
            <a:ext cx="8066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Oman’s Vision for Quality Excellence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244AD4-C717-22D4-6940-9E8D98C98775}"/>
              </a:ext>
            </a:extLst>
          </p:cNvPr>
          <p:cNvSpPr txBox="1"/>
          <p:nvPr/>
        </p:nvSpPr>
        <p:spPr>
          <a:xfrm>
            <a:off x="413657" y="1807029"/>
            <a:ext cx="10853057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Oman is building a world-class quality and standards ecosystem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Led by the Ministry of Commerce, Industry and Investment Promotion (</a:t>
            </a:r>
            <a:r>
              <a:rPr lang="en-US" sz="2400" dirty="0" err="1"/>
              <a:t>MoCIIP</a:t>
            </a:r>
            <a:r>
              <a:rPr lang="en-US" sz="2400" dirty="0"/>
              <a:t>)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Implemented through the Directorate General of Standards and Metrology (DGSM)</a:t>
            </a:r>
          </a:p>
          <a:p>
            <a:br>
              <a:rPr lang="en-US" sz="2400" dirty="0"/>
            </a:br>
            <a:r>
              <a:rPr lang="en-US" sz="2400" dirty="0"/>
              <a:t>Part of the 10th Five-Year Development Plan and Oman Vision 2040</a:t>
            </a:r>
          </a:p>
          <a:p>
            <a:br>
              <a:rPr lang="en-US" dirty="0"/>
            </a:b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1612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B79A7-3651-8FB9-0AEB-F31543D2D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D176B5-849D-603E-DE9F-E0EB64540D54}"/>
              </a:ext>
            </a:extLst>
          </p:cNvPr>
          <p:cNvSpPr txBox="1"/>
          <p:nvPr/>
        </p:nvSpPr>
        <p:spPr>
          <a:xfrm>
            <a:off x="3733801" y="500743"/>
            <a:ext cx="8066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Is the National Quality Framework?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106362-C004-E036-D43B-7E57F6E4E3A9}"/>
              </a:ext>
            </a:extLst>
          </p:cNvPr>
          <p:cNvSpPr txBox="1"/>
          <p:nvPr/>
        </p:nvSpPr>
        <p:spPr>
          <a:xfrm>
            <a:off x="1905000" y="1578429"/>
            <a:ext cx="838200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structured system ensuring quality, safety, and reliability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Covers: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Standards development</a:t>
            </a:r>
            <a:br>
              <a:rPr lang="en-US" sz="2000" dirty="0"/>
            </a:br>
            <a:r>
              <a:rPr lang="en-US" sz="2000" dirty="0"/>
              <a:t>Metrology (measurement accuracy)</a:t>
            </a:r>
            <a:br>
              <a:rPr lang="en-US" sz="2000" dirty="0"/>
            </a:br>
            <a:r>
              <a:rPr lang="en-US" sz="2000" dirty="0">
                <a:hlinkClick r:id="rId2"/>
              </a:rPr>
              <a:t>Conformity assessment</a:t>
            </a:r>
            <a:br>
              <a:rPr lang="en-US" sz="2000" dirty="0"/>
            </a:br>
            <a:r>
              <a:rPr lang="en-US" sz="2000" dirty="0"/>
              <a:t>Accreditation</a:t>
            </a:r>
            <a:br>
              <a:rPr lang="en-US" sz="2000" dirty="0"/>
            </a:br>
            <a:r>
              <a:rPr lang="en-IN" sz="2000" dirty="0"/>
              <a:t>Quality marks and certification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Supports sustainable economic growth and international trade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0852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5FB88-F782-9E44-0DB7-75670632C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Empowering Quality Infrastructure in Oman</a:t>
            </a:r>
            <a:endParaRPr lang="en-IN" sz="3600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8F38D25-3D30-0722-D95A-37509943E1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8470596"/>
              </p:ext>
            </p:extLst>
          </p:nvPr>
        </p:nvGraphicFramePr>
        <p:xfrm>
          <a:off x="2032000" y="1360714"/>
          <a:ext cx="8128000" cy="54972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7484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F824E-97C5-78EF-6C2E-830EA7613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62565-50BE-607C-516F-7C4DCD7C5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1839"/>
            <a:ext cx="10515600" cy="1325563"/>
          </a:xfrm>
        </p:spPr>
        <p:txBody>
          <a:bodyPr>
            <a:noAutofit/>
          </a:bodyPr>
          <a:lstStyle/>
          <a:p>
            <a:r>
              <a:rPr lang="en-IN" sz="3600" dirty="0"/>
              <a:t>Strategic Achievements (2025–2028)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B3844BA-DF20-B112-9A27-9F1319DCBD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0410461"/>
              </p:ext>
            </p:extLst>
          </p:nvPr>
        </p:nvGraphicFramePr>
        <p:xfrm>
          <a:off x="2032000" y="1360714"/>
          <a:ext cx="8128000" cy="54972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FC85760-52E0-8D06-1290-2C9F7F0662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0874703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BC356DA-AA9B-FE04-6899-BF75388B7F68}"/>
              </a:ext>
            </a:extLst>
          </p:cNvPr>
          <p:cNvSpPr txBox="1"/>
          <p:nvPr/>
        </p:nvSpPr>
        <p:spPr>
          <a:xfrm>
            <a:off x="1585686" y="1342735"/>
            <a:ext cx="83312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err="1"/>
              <a:t>MoUs</a:t>
            </a:r>
            <a:r>
              <a:rPr lang="en-IN" sz="2400" dirty="0"/>
              <a:t> signed with:</a:t>
            </a:r>
          </a:p>
          <a:p>
            <a:br>
              <a:rPr lang="en-IN" sz="2400" dirty="0"/>
            </a:br>
            <a:r>
              <a:rPr lang="en-IN" sz="2400" dirty="0"/>
              <a:t>Bahrain</a:t>
            </a:r>
            <a:br>
              <a:rPr lang="en-IN" sz="2400" dirty="0"/>
            </a:br>
            <a:r>
              <a:rPr lang="en-IN" sz="2400" dirty="0"/>
              <a:t>India</a:t>
            </a:r>
            <a:br>
              <a:rPr lang="en-IN" sz="2400" dirty="0"/>
            </a:br>
            <a:r>
              <a:rPr lang="en-IN" sz="2400" dirty="0"/>
              <a:t>Belarus</a:t>
            </a:r>
            <a:br>
              <a:rPr lang="en-IN" sz="2400" dirty="0"/>
            </a:br>
            <a:r>
              <a:rPr lang="en-IN" sz="2400" dirty="0"/>
              <a:t>Tunisia</a:t>
            </a:r>
            <a:br>
              <a:rPr lang="en-IN" sz="2400" dirty="0"/>
            </a:br>
            <a:endParaRPr lang="en-IN" sz="2400" dirty="0"/>
          </a:p>
          <a:p>
            <a:br>
              <a:rPr lang="en-IN" sz="2400" dirty="0"/>
            </a:br>
            <a:r>
              <a:rPr lang="en-IN" sz="2400" dirty="0"/>
              <a:t>Mutual recognition in conformity </a:t>
            </a:r>
            <a:r>
              <a:rPr lang="en-US" sz="2400" dirty="0"/>
              <a:t>assessment and precious metals regulation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Strengthening international trade and regulatory trust </a:t>
            </a:r>
            <a:br>
              <a:rPr lang="en-IN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56450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E4A47-59D2-4B44-7118-76DB22BE2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Commitment to International Best Practices</a:t>
            </a:r>
            <a:endParaRPr lang="en-IN" sz="40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10F2E7A-25F0-D8B8-1FE5-96AC1ECA37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3366903"/>
              </p:ext>
            </p:extLst>
          </p:nvPr>
        </p:nvGraphicFramePr>
        <p:xfrm>
          <a:off x="2032000" y="1578429"/>
          <a:ext cx="8128000" cy="49144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5030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716F4-39D6-81E3-AC63-B29174642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4DF6F-B2BD-1B0A-B0D6-0758CE29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686" y="114753"/>
            <a:ext cx="10515600" cy="1325563"/>
          </a:xfrm>
        </p:spPr>
        <p:txBody>
          <a:bodyPr>
            <a:noAutofit/>
          </a:bodyPr>
          <a:lstStyle/>
          <a:p>
            <a:r>
              <a:rPr lang="en-IN" sz="4000" dirty="0"/>
              <a:t>Global &amp; Regional Engagement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8A5F8D-64C3-F156-59BE-015C22FCFDE8}"/>
              </a:ext>
            </a:extLst>
          </p:cNvPr>
          <p:cNvSpPr txBox="1"/>
          <p:nvPr/>
        </p:nvSpPr>
        <p:spPr>
          <a:xfrm>
            <a:off x="870857" y="2013856"/>
            <a:ext cx="964474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Active participation in</a:t>
            </a:r>
            <a:br>
              <a:rPr lang="en-IN" dirty="0"/>
            </a:br>
            <a:br>
              <a:rPr lang="en-IN" dirty="0"/>
            </a:br>
            <a:r>
              <a:rPr lang="en-US" dirty="0"/>
              <a:t>International Organization for Standardization (ISO)</a:t>
            </a:r>
            <a:br>
              <a:rPr lang="en-US" dirty="0"/>
            </a:br>
            <a:br>
              <a:rPr lang="en-US" dirty="0"/>
            </a:br>
            <a:r>
              <a:rPr lang="en-IN" dirty="0"/>
              <a:t>International Organization of Legal Metrology</a:t>
            </a:r>
            <a:br>
              <a:rPr lang="en-IN" dirty="0"/>
            </a:br>
            <a:br>
              <a:rPr lang="en-IN" dirty="0"/>
            </a:br>
            <a:r>
              <a:rPr lang="en-IN" dirty="0"/>
              <a:t>Arab Industrial Development, Standardization &amp; Mining Organization</a:t>
            </a:r>
            <a:br>
              <a:rPr lang="en-IN" dirty="0"/>
            </a:br>
            <a:br>
              <a:rPr lang="en-IN" dirty="0"/>
            </a:br>
            <a:r>
              <a:rPr lang="en-US" dirty="0"/>
              <a:t>Enhancing Oman’s influence in global standard-setting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5287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3D8FD-2054-B60B-E78A-C49B6BA7D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D5ECE-7273-624F-9443-AC99C496A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686" y="114753"/>
            <a:ext cx="10515600" cy="1325563"/>
          </a:xfrm>
        </p:spPr>
        <p:txBody>
          <a:bodyPr>
            <a:noAutofit/>
          </a:bodyPr>
          <a:lstStyle/>
          <a:p>
            <a:r>
              <a:rPr lang="en-IN" sz="4000" dirty="0"/>
              <a:t>Standards Development Milestones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1127FA-15A7-35F3-8957-D5C5F8D9A75C}"/>
              </a:ext>
            </a:extLst>
          </p:cNvPr>
          <p:cNvSpPr txBox="1"/>
          <p:nvPr/>
        </p:nvSpPr>
        <p:spPr>
          <a:xfrm>
            <a:off x="838200" y="1440316"/>
            <a:ext cx="999308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Five national projects completed: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Traditional Omani vessels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Frankincense 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Cosmetics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Energy-efficient lighting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Smart water meters</a:t>
            </a:r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Approval of 9 new national standards in 2025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Adoption of over 1,000 GCC unified standards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196 GCC standards prepared by Oman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5845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4EB9B-FE3F-935E-B798-00C14EBAA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967A5-1A57-60E8-0F26-B1E8E49E3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381"/>
            <a:ext cx="10515600" cy="1325563"/>
          </a:xfrm>
        </p:spPr>
        <p:txBody>
          <a:bodyPr>
            <a:noAutofit/>
          </a:bodyPr>
          <a:lstStyle/>
          <a:p>
            <a:r>
              <a:rPr lang="en-IN" sz="4000" dirty="0"/>
              <a:t>        Building Competency &amp; Capacity 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15089FB-6EFD-996E-7C7B-65940FA95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6515" y="2007746"/>
            <a:ext cx="7680372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Seven specialized training programs under Oman Accreditation Centre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250+ professionals trained in: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Accreditation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Calibration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Inspection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support for SMEs and entrepreneurs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 15 technical programs for public &amp; private sectors</a:t>
            </a:r>
          </a:p>
        </p:txBody>
      </p:sp>
    </p:spTree>
    <p:extLst>
      <p:ext uri="{BB962C8B-B14F-4D97-AF65-F5344CB8AC3E}">
        <p14:creationId xmlns:p14="http://schemas.microsoft.com/office/powerpoint/2010/main" val="1868996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F7E27-B42E-AAD8-AEFA-B7EC49F03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79A6DD-0768-C84F-ABE2-4F4C1E5CF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H="1" flipV="1">
            <a:off x="1175658" y="217713"/>
            <a:ext cx="8850086" cy="1284516"/>
          </a:xfrm>
        </p:spPr>
        <p:txBody>
          <a:bodyPr>
            <a:normAutofit fontScale="90000"/>
          </a:bodyPr>
          <a:lstStyle/>
          <a:p>
            <a:r>
              <a:rPr lang="en-IN" dirty="0"/>
              <a:t>Digital Transformation in Quality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2BF05B-70FD-2EE2-7D17-D2DDF8F61910}"/>
              </a:ext>
            </a:extLst>
          </p:cNvPr>
          <p:cNvSpPr txBox="1"/>
          <p:nvPr/>
        </p:nvSpPr>
        <p:spPr>
          <a:xfrm>
            <a:off x="1175658" y="1785257"/>
            <a:ext cx="1031965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Launch of five new DGSM e-services</a:t>
            </a: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Redesigned conformity assessment system</a:t>
            </a: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Integration of energy efficiency labeling with HAZM platform</a:t>
            </a: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Improved transparency, traceability, and service turnaround time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3448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3DFCF-FFA9-021A-45E8-1A5E5B7F4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9698823-D5BC-DB03-4E69-53801B797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H="1" flipV="1">
            <a:off x="1240971" y="283025"/>
            <a:ext cx="9710057" cy="1915887"/>
          </a:xfrm>
        </p:spPr>
        <p:txBody>
          <a:bodyPr>
            <a:normAutofit/>
          </a:bodyPr>
          <a:lstStyle/>
          <a:p>
            <a:r>
              <a:rPr lang="en-US" dirty="0"/>
              <a:t>Alignment with ISO Management Systems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02B0B1-8CE8-9DF1-A86F-F6E6251987F8}"/>
              </a:ext>
            </a:extLst>
          </p:cNvPr>
          <p:cNvSpPr txBox="1"/>
          <p:nvPr/>
        </p:nvSpPr>
        <p:spPr>
          <a:xfrm>
            <a:off x="968827" y="2732311"/>
            <a:ext cx="1025434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US" sz="2400" dirty="0">
                <a:hlinkClick r:id="rId2"/>
              </a:rPr>
              <a:t>ISO 9001: Process efficiency and digital record management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+mj-lt"/>
              <a:buAutoNum type="arabicParenR"/>
            </a:pPr>
            <a:r>
              <a:rPr lang="en-US" sz="2400" dirty="0"/>
              <a:t>ISO 27001: Information security and system reliability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+mj-lt"/>
              <a:buAutoNum type="arabicParenR"/>
            </a:pPr>
            <a:r>
              <a:rPr lang="en-US" sz="2400" dirty="0"/>
              <a:t>ISO standards align seamlessly with Oman’s digital quality initiatives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+mj-lt"/>
              <a:buAutoNum type="arabicParenR"/>
            </a:pPr>
            <a:r>
              <a:rPr lang="en-US" sz="2400" dirty="0"/>
              <a:t>Faster compliance and improved operational control</a:t>
            </a:r>
          </a:p>
          <a:p>
            <a:pPr marL="342900" indent="-342900">
              <a:buFont typeface="+mj-lt"/>
              <a:buAutoNum type="arabicParenR"/>
            </a:pPr>
            <a:endParaRPr lang="en-US" sz="24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0C8C63F-24DD-E741-A650-8CE7318A2E7F}"/>
              </a:ext>
            </a:extLst>
          </p:cNvPr>
          <p:cNvSpPr/>
          <p:nvPr/>
        </p:nvSpPr>
        <p:spPr>
          <a:xfrm>
            <a:off x="7881257" y="54428"/>
            <a:ext cx="76200" cy="2285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66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98DC4-7043-4047-7A59-44D631C8F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Oman’s Global Quality 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E2492-7FC1-92DF-A6B2-8FDDBA165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1110"/>
            <a:ext cx="9851571" cy="3284083"/>
          </a:xfrm>
        </p:spPr>
        <p:txBody>
          <a:bodyPr/>
          <a:lstStyle/>
          <a:p>
            <a:pPr lvl="1"/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D467EB-CD62-E0BF-941F-BC0BDC0A155D}"/>
              </a:ext>
            </a:extLst>
          </p:cNvPr>
          <p:cNvSpPr txBox="1"/>
          <p:nvPr/>
        </p:nvSpPr>
        <p:spPr>
          <a:xfrm>
            <a:off x="1404257" y="1850570"/>
            <a:ext cx="10189029" cy="4467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/>
              <a:t>Ranked 57th globally in UNIDO’s Quality Infrastructure for Sustainable Development Index (QI4SD)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/>
              <a:t>Member of 40+ international technical committees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/>
              <a:t>Focus areas include: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Sustainability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Renewable energy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Hydrogen technology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Environmental management</a:t>
            </a:r>
          </a:p>
        </p:txBody>
      </p:sp>
    </p:spTree>
    <p:extLst>
      <p:ext uri="{BB962C8B-B14F-4D97-AF65-F5344CB8AC3E}">
        <p14:creationId xmlns:p14="http://schemas.microsoft.com/office/powerpoint/2010/main" val="1486016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C8D20-4A7C-A86B-BD03-775502E6B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371" y="423864"/>
            <a:ext cx="10918371" cy="1176338"/>
          </a:xfrm>
        </p:spPr>
        <p:txBody>
          <a:bodyPr>
            <a:normAutofit fontScale="90000"/>
          </a:bodyPr>
          <a:lstStyle/>
          <a:p>
            <a:r>
              <a:rPr lang="en-US" dirty="0"/>
              <a:t>What This Means for Businesses in Oman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652E257-59F7-A1EF-B647-55E729DACB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2257" y="2038757"/>
            <a:ext cx="10711543" cy="3405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Stronger, government-backed regulatory framework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Easier integration of ISO requirements with national policies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Increased confidence for local and international stakeholders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Supportive environment for ISO certification and compliance</a:t>
            </a:r>
          </a:p>
        </p:txBody>
      </p:sp>
    </p:spTree>
    <p:extLst>
      <p:ext uri="{BB962C8B-B14F-4D97-AF65-F5344CB8AC3E}">
        <p14:creationId xmlns:p14="http://schemas.microsoft.com/office/powerpoint/2010/main" val="4004119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1E6D9-06B1-4332-532E-49AF6ECF8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2" y="141513"/>
            <a:ext cx="9622973" cy="1970315"/>
          </a:xfrm>
        </p:spPr>
        <p:txBody>
          <a:bodyPr>
            <a:normAutofit/>
          </a:bodyPr>
          <a:lstStyle/>
          <a:p>
            <a:r>
              <a:rPr lang="en-US" dirty="0"/>
              <a:t>Key Benefits for ISO-Certified Organizations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1ED5E-4EEA-1358-2324-7B4774268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1" y="2351313"/>
            <a:ext cx="10157600" cy="371202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Improved market access (local, regional, global)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Enhanced brand reputation and credibility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Increased customer and investor confidence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Independent third-party validation of management systems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58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79669-6CF7-AA71-144E-EAAF82A65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Businesses Should Act Now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E822B-D4B4-4142-FB00-3C6FB23E7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1825625"/>
            <a:ext cx="9395600" cy="444454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National infrastructure now supports ISO adoption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Reduced compliance complexity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Greater opportunities for global trade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Competitive advantage in a quality-driven market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396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97880-1F64-E6F0-3EAE-D04B1730E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470"/>
            <a:ext cx="11800114" cy="1017360"/>
          </a:xfrm>
        </p:spPr>
        <p:txBody>
          <a:bodyPr>
            <a:noAutofit/>
          </a:bodyPr>
          <a:lstStyle/>
          <a:p>
            <a:r>
              <a:rPr lang="en-US" sz="4400" dirty="0"/>
              <a:t>How </a:t>
            </a:r>
            <a:r>
              <a:rPr lang="en-US" sz="4400" dirty="0" err="1"/>
              <a:t>MaxiCert</a:t>
            </a:r>
            <a:r>
              <a:rPr lang="en-US" sz="4400" dirty="0"/>
              <a:t> Supports Organizations in </a:t>
            </a:r>
            <a:r>
              <a:rPr lang="en-US" sz="4400" dirty="0" err="1"/>
              <a:t>Omam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5C586-7786-E44C-1A45-08FB9B0A6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Gap analysis and risk assessment</a:t>
            </a:r>
          </a:p>
          <a:p>
            <a:r>
              <a:rPr lang="en-US" dirty="0"/>
              <a:t>ISO documentation and policy development</a:t>
            </a:r>
          </a:p>
          <a:p>
            <a:r>
              <a:rPr lang="en-US" dirty="0"/>
              <a:t>Employee training and awareness programs</a:t>
            </a:r>
          </a:p>
          <a:p>
            <a:r>
              <a:rPr lang="en-US" dirty="0"/>
              <a:t>Implementation support for:</a:t>
            </a:r>
          </a:p>
          <a:p>
            <a:pPr lvl="1"/>
            <a:r>
              <a:rPr lang="en-US" dirty="0"/>
              <a:t>ISO 9001</a:t>
            </a:r>
          </a:p>
          <a:p>
            <a:pPr lvl="1"/>
            <a:r>
              <a:rPr lang="en-US" dirty="0"/>
              <a:t>ISO 14001</a:t>
            </a:r>
          </a:p>
          <a:p>
            <a:pPr lvl="1"/>
            <a:r>
              <a:rPr lang="en-US" dirty="0"/>
              <a:t>ISO 22000</a:t>
            </a:r>
          </a:p>
          <a:p>
            <a:pPr lvl="1"/>
            <a:r>
              <a:rPr lang="en-US" dirty="0"/>
              <a:t>ISO 27001</a:t>
            </a:r>
          </a:p>
          <a:p>
            <a:pPr lvl="1"/>
            <a:r>
              <a:rPr lang="en-US" dirty="0"/>
              <a:t>ISO 45001</a:t>
            </a:r>
          </a:p>
          <a:p>
            <a:r>
              <a:rPr lang="en-US" dirty="0"/>
              <a:t>Internal audits and certification coordination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0491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8D401-DC98-B585-E9DA-1290B2E0D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Choose </a:t>
            </a:r>
            <a:r>
              <a:rPr lang="en-IN" dirty="0" err="1"/>
              <a:t>MaxiCert</a:t>
            </a:r>
            <a:r>
              <a:rPr lang="en-IN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09DF1-5187-81F2-E286-40F4EBC12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1825625"/>
            <a:ext cx="9635086" cy="2169432"/>
          </a:xfrm>
        </p:spPr>
        <p:txBody>
          <a:bodyPr/>
          <a:lstStyle/>
          <a:p>
            <a:r>
              <a:rPr lang="en-US" dirty="0"/>
              <a:t>Experienced ISO consultants</a:t>
            </a:r>
          </a:p>
          <a:p>
            <a:r>
              <a:rPr lang="en-US" dirty="0"/>
              <a:t>Practical, business-focused solutions</a:t>
            </a:r>
          </a:p>
          <a:p>
            <a:r>
              <a:rPr lang="en-US" dirty="0"/>
              <a:t>End-to-end certification support</a:t>
            </a:r>
          </a:p>
          <a:p>
            <a:r>
              <a:rPr lang="en-US" dirty="0"/>
              <a:t>Faster, smoother, and compliant certification journey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8810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3E483-DCD9-F28C-ACF3-146BFA037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4353"/>
            <a:ext cx="10341429" cy="143101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Conclusion – A Future Built on Quality &amp; Trust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6C277-21ED-438F-7D8E-9D29BF505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458" y="2155372"/>
            <a:ext cx="9831029" cy="3439886"/>
          </a:xfrm>
        </p:spPr>
        <p:txBody>
          <a:bodyPr>
            <a:normAutofit/>
          </a:bodyPr>
          <a:lstStyle/>
          <a:p>
            <a:r>
              <a:rPr lang="en-US" dirty="0"/>
              <a:t>Oman’s quality framework marks a major transformation</a:t>
            </a:r>
          </a:p>
          <a:p>
            <a:r>
              <a:rPr lang="en-US" dirty="0"/>
              <a:t>ISO standards are key to sustainable growth and global competitiveness</a:t>
            </a:r>
          </a:p>
          <a:p>
            <a:r>
              <a:rPr lang="en-US" dirty="0"/>
              <a:t>Now is the right time for businesses to align and upgrade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MaxiCert</a:t>
            </a:r>
            <a:r>
              <a:rPr lang="en-US" b="1" dirty="0"/>
              <a:t> – Your Partner in Quality &amp; Certification Excellence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2389228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111</TotalTime>
  <Words>718</Words>
  <Application>Microsoft Office PowerPoint</Application>
  <PresentationFormat>Widescreen</PresentationFormat>
  <Paragraphs>122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Corbel</vt:lpstr>
      <vt:lpstr>Wingdings</vt:lpstr>
      <vt:lpstr>Depth</vt:lpstr>
      <vt:lpstr>PowerPoint Presentation</vt:lpstr>
      <vt:lpstr>PowerPoint Presentation</vt:lpstr>
      <vt:lpstr>PowerPoint Presentation</vt:lpstr>
      <vt:lpstr>PowerPoint Presentation</vt:lpstr>
      <vt:lpstr>Empowering Quality Infrastructure in Oman</vt:lpstr>
      <vt:lpstr>Strategic Achievements (2025–2028)</vt:lpstr>
      <vt:lpstr>Commitment to International Best Practices</vt:lpstr>
      <vt:lpstr>Global &amp; Regional Engagement</vt:lpstr>
      <vt:lpstr>Standards Development Milestones</vt:lpstr>
      <vt:lpstr>        Building Competency &amp; Capacity  </vt:lpstr>
      <vt:lpstr>Digital Transformation in Quality</vt:lpstr>
      <vt:lpstr>Alignment with ISO Management Systems</vt:lpstr>
      <vt:lpstr>Oman’s Global Quality Standing</vt:lpstr>
      <vt:lpstr>What This Means for Businesses in Oman</vt:lpstr>
      <vt:lpstr>Key Benefits for ISO-Certified Organizations</vt:lpstr>
      <vt:lpstr>Why Businesses Should Act Now</vt:lpstr>
      <vt:lpstr>How MaxiCert Supports Organizations in Omam</vt:lpstr>
      <vt:lpstr>Why Choose MaxiCert?</vt:lpstr>
      <vt:lpstr>Conclusion – A Future Built on Quality &amp; Trust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OWAIS AHMED</dc:creator>
  <cp:lastModifiedBy>OWAIS AHMED</cp:lastModifiedBy>
  <cp:revision>3</cp:revision>
  <dcterms:created xsi:type="dcterms:W3CDTF">2025-12-24T05:53:03Z</dcterms:created>
  <dcterms:modified xsi:type="dcterms:W3CDTF">2025-12-24T07:44:42Z</dcterms:modified>
</cp:coreProperties>
</file>