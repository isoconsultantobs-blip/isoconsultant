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40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6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7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02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62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604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241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064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28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015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9485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147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4292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99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915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49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AF01D-8C09-4C39-8E19-F2AFAFD1CAA2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272F04D-56CA-4FB2-B830-33AF66D08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0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opularcert.com/saudi-arabia/dammam/iso-14001-certification-in-damma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opularcert.com/saudi-arabia/dammam/iso-14001-certification-in-damma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opularcert.com/india/iso-27001-certification-chennai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opularcert.com/iraq/kurdistan/iso-9001-certification-in-kurdistan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opularcert.com/iraq/mosul/iso-14001-certification-in-mosul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opularcert.com/iso-13485-certification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opularcert.com/iso-17025-certificatio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B7005-D6D6-2F9E-DD0A-F54131992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8" y="1159330"/>
            <a:ext cx="9535887" cy="1578429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Why ISO Consultants Matter?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1F9516-DC52-9E28-0A6F-55E7192CF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2871" y="2982687"/>
            <a:ext cx="7892143" cy="1578429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chemeClr val="accent4"/>
                </a:solidFill>
              </a:rPr>
              <a:t>Your Complete Guide to ISO Certification in Saudi Arabia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954FA4-4058-5E8E-E206-0D3D5BAEC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4284" y="5497286"/>
            <a:ext cx="1429389" cy="1143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1C3711D-EAAC-CA3B-CD1F-1BAAB01DE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088" y="5322885"/>
            <a:ext cx="2922941" cy="148904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027127B-3816-703D-1E26-1B775CA878AA}"/>
              </a:ext>
            </a:extLst>
          </p:cNvPr>
          <p:cNvSpPr txBox="1"/>
          <p:nvPr/>
        </p:nvSpPr>
        <p:spPr>
          <a:xfrm>
            <a:off x="6858000" y="6183086"/>
            <a:ext cx="2144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By:</a:t>
            </a:r>
          </a:p>
          <a:p>
            <a:r>
              <a:rPr lang="en-US" dirty="0" err="1"/>
              <a:t>popularcert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84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BE5AEF-AA99-BFE2-C9F0-A7595E26ED28}"/>
              </a:ext>
            </a:extLst>
          </p:cNvPr>
          <p:cNvSpPr txBox="1"/>
          <p:nvPr/>
        </p:nvSpPr>
        <p:spPr>
          <a:xfrm>
            <a:off x="1643743" y="696686"/>
            <a:ext cx="6781799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Agenda</a:t>
            </a:r>
          </a:p>
          <a:p>
            <a:endParaRPr lang="en-IN" sz="4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>
                <a:hlinkClick r:id="rId2"/>
              </a:rPr>
              <a:t>ISO certification landscape in Saudi Arabia</a:t>
            </a:r>
            <a:endParaRPr lang="en-IN" sz="2400" dirty="0"/>
          </a:p>
          <a:p>
            <a:endParaRPr lang="en-I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/>
              <a:t>Why ISO is no longer optional</a:t>
            </a:r>
          </a:p>
          <a:p>
            <a:endParaRPr lang="en-I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/>
              <a:t>Role of ISO consultants</a:t>
            </a:r>
          </a:p>
          <a:p>
            <a:endParaRPr lang="en-I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/>
              <a:t>Certification process</a:t>
            </a:r>
          </a:p>
          <a:p>
            <a:endParaRPr lang="en-IN" sz="24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/>
              <a:t>Industry use cases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/>
              <a:t>Why choose </a:t>
            </a:r>
            <a:r>
              <a:rPr lang="en-IN" sz="2400" dirty="0" err="1"/>
              <a:t>Maxicert</a:t>
            </a:r>
            <a:br>
              <a:rPr lang="en-IN" sz="1000" dirty="0"/>
            </a:br>
            <a:endParaRPr lang="en-IN" sz="1000" dirty="0"/>
          </a:p>
          <a:p>
            <a:r>
              <a:rPr lang="en-IN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862983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83FA8B-0AF2-AB09-5E95-A909A3D438F3}"/>
              </a:ext>
            </a:extLst>
          </p:cNvPr>
          <p:cNvSpPr txBox="1"/>
          <p:nvPr/>
        </p:nvSpPr>
        <p:spPr>
          <a:xfrm>
            <a:off x="1101603" y="664028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Saudi Arabia Business landscape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2DC7EB-F592-6857-D51B-8D91D510EFF5}"/>
              </a:ext>
            </a:extLst>
          </p:cNvPr>
          <p:cNvSpPr txBox="1"/>
          <p:nvPr/>
        </p:nvSpPr>
        <p:spPr>
          <a:xfrm>
            <a:off x="1730827" y="1894116"/>
            <a:ext cx="674255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Key Points:</a:t>
            </a:r>
          </a:p>
          <a:p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hlinkClick r:id="rId2"/>
              </a:rPr>
              <a:t>Rapid growth driven by Vision 2030</a:t>
            </a: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Digital transformation &amp; exports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Increased regulatory &amp; tender requirements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Global competitiveness focus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7091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A63D6C-F2DF-F8A1-649A-878DC37D5319}"/>
              </a:ext>
            </a:extLst>
          </p:cNvPr>
          <p:cNvSpPr txBox="1"/>
          <p:nvPr/>
        </p:nvSpPr>
        <p:spPr>
          <a:xfrm>
            <a:off x="272143" y="261257"/>
            <a:ext cx="8414657" cy="850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 Why ISO </a:t>
            </a:r>
            <a:r>
              <a:rPr lang="en-IN" sz="4000" dirty="0"/>
              <a:t>Certification</a:t>
            </a:r>
            <a:r>
              <a:rPr lang="en-IN" sz="3200" dirty="0"/>
              <a:t> </a:t>
            </a:r>
            <a:r>
              <a:rPr lang="en-IN" sz="4000" dirty="0"/>
              <a:t>Matters</a:t>
            </a:r>
            <a:r>
              <a:rPr lang="en-IN" sz="3200" dirty="0"/>
              <a:t> in KSA</a:t>
            </a:r>
          </a:p>
          <a:p>
            <a:endParaRPr lang="en-IN" sz="3200" dirty="0"/>
          </a:p>
          <a:p>
            <a:r>
              <a:rPr lang="en-IN" sz="2400" dirty="0"/>
              <a:t>ISO is required for:</a:t>
            </a:r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hlinkClick r:id="rId2"/>
              </a:rPr>
              <a:t>Government &amp; semi-government tenders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ARAMCO, NEOM, SFDA, SEC, RC compliance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Supplier approvals Investor &amp; customer trust</a:t>
            </a:r>
          </a:p>
          <a:p>
            <a:endParaRPr lang="en-IN" sz="24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</a:t>
            </a:r>
          </a:p>
          <a:p>
            <a:endParaRPr lang="en-IN" dirty="0"/>
          </a:p>
          <a:p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4548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AA2A3-0AFC-A3DC-6122-6946F179C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A9AB63-9C9D-ADAF-B491-24C2558361D2}"/>
              </a:ext>
            </a:extLst>
          </p:cNvPr>
          <p:cNvSpPr txBox="1"/>
          <p:nvPr/>
        </p:nvSpPr>
        <p:spPr>
          <a:xfrm>
            <a:off x="794657" y="1197620"/>
            <a:ext cx="890451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The Reality Many Businesses</a:t>
            </a:r>
          </a:p>
          <a:p>
            <a:endParaRPr lang="en-US" sz="2400" dirty="0"/>
          </a:p>
          <a:p>
            <a:r>
              <a:rPr lang="en-US" sz="2400" dirty="0"/>
              <a:t> </a:t>
            </a:r>
            <a:r>
              <a:rPr lang="en-US" sz="2800" dirty="0"/>
              <a:t>Face Common mistakes:</a:t>
            </a:r>
          </a:p>
          <a:p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Downloading templates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No real implementation Failed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Audits Internal Confusion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Lost tenders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7587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A0625-D034-60F6-D29E-C8392B8A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16FA5D-0FA2-7268-1D6B-4EA640C81F75}"/>
              </a:ext>
            </a:extLst>
          </p:cNvPr>
          <p:cNvSpPr txBox="1"/>
          <p:nvPr/>
        </p:nvSpPr>
        <p:spPr>
          <a:xfrm>
            <a:off x="1828799" y="664027"/>
            <a:ext cx="790302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 Why ISO Consultants Matter</a:t>
            </a:r>
          </a:p>
          <a:p>
            <a:endParaRPr lang="en-US" sz="3200" dirty="0"/>
          </a:p>
          <a:p>
            <a:r>
              <a:rPr lang="en-US" sz="2400" dirty="0"/>
              <a:t>ISO consultants act as: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hlinkClick r:id="rId2"/>
              </a:rPr>
              <a:t>Compliance experts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Process improvers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Risk reducers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Time &amp; cost savers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4483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475A7C-3E23-FD2E-2708-9CB4AA7B8582}"/>
              </a:ext>
            </a:extLst>
          </p:cNvPr>
          <p:cNvSpPr txBox="1"/>
          <p:nvPr/>
        </p:nvSpPr>
        <p:spPr>
          <a:xfrm>
            <a:off x="936171" y="598714"/>
            <a:ext cx="829491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r>
              <a:rPr lang="en-US" sz="4000" dirty="0"/>
              <a:t>What ISO Consultants Really Do</a:t>
            </a:r>
          </a:p>
          <a:p>
            <a:endParaRPr lang="en-US" sz="4000" dirty="0"/>
          </a:p>
          <a:p>
            <a:r>
              <a:rPr lang="en-US" sz="2400" dirty="0"/>
              <a:t>Core services: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hlinkClick r:id="rId2"/>
              </a:rPr>
              <a:t>Gap analysis</a:t>
            </a: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Documentation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Implementation Staff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Training Internal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 audit Certification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 coordination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71236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8825D-5497-58CA-C60B-83274A8E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21E999-1542-B7A1-7614-AC08C6723FE9}"/>
              </a:ext>
            </a:extLst>
          </p:cNvPr>
          <p:cNvSpPr txBox="1"/>
          <p:nvPr/>
        </p:nvSpPr>
        <p:spPr>
          <a:xfrm>
            <a:off x="500743" y="446314"/>
            <a:ext cx="8556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Benefits of Hiring ISO Consultants</a:t>
            </a:r>
            <a:endParaRPr lang="en-IN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1E03C7-BFDA-6BD3-BB70-EEF713703184}"/>
              </a:ext>
            </a:extLst>
          </p:cNvPr>
          <p:cNvSpPr txBox="1"/>
          <p:nvPr/>
        </p:nvSpPr>
        <p:spPr>
          <a:xfrm>
            <a:off x="653143" y="1491343"/>
            <a:ext cx="865414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91B4B62-F1F1-D2B2-7DD9-1843AB397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132463"/>
              </p:ext>
            </p:extLst>
          </p:nvPr>
        </p:nvGraphicFramePr>
        <p:xfrm>
          <a:off x="1295401" y="1709057"/>
          <a:ext cx="7982970" cy="4497544"/>
        </p:xfrm>
        <a:graphic>
          <a:graphicData uri="http://schemas.openxmlformats.org/drawingml/2006/table">
            <a:tbl>
              <a:tblPr/>
              <a:tblGrid>
                <a:gridCol w="2663949">
                  <a:extLst>
                    <a:ext uri="{9D8B030D-6E8A-4147-A177-3AD203B41FA5}">
                      <a16:colId xmlns:a16="http://schemas.microsoft.com/office/drawing/2014/main" val="809485456"/>
                    </a:ext>
                  </a:extLst>
                </a:gridCol>
                <a:gridCol w="5319021">
                  <a:extLst>
                    <a:ext uri="{9D8B030D-6E8A-4147-A177-3AD203B41FA5}">
                      <a16:colId xmlns:a16="http://schemas.microsoft.com/office/drawing/2014/main" val="2130733401"/>
                    </a:ext>
                  </a:extLst>
                </a:gridCol>
              </a:tblGrid>
              <a:tr h="654728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Benefit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Business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501618"/>
                  </a:ext>
                </a:extLst>
              </a:tr>
              <a:tr h="824957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Faster certification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 delays or confusion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870093"/>
                  </a:ext>
                </a:extLst>
              </a:tr>
              <a:tr h="824957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Expert 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Correct clause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052802"/>
                  </a:ext>
                </a:extLst>
              </a:tr>
              <a:tr h="542988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Cost savings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Avoid rework &amp; audit failures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19702"/>
                  </a:ext>
                </a:extLst>
              </a:tr>
              <a:tr h="824957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Tender readiness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Higher success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582904"/>
                  </a:ext>
                </a:extLst>
              </a:tr>
              <a:tr h="824957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Compliance confidence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Stress-free audits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271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892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7BC47D-1A58-1982-6519-7F34E83398CA}"/>
              </a:ext>
            </a:extLst>
          </p:cNvPr>
          <p:cNvSpPr txBox="1"/>
          <p:nvPr/>
        </p:nvSpPr>
        <p:spPr>
          <a:xfrm>
            <a:off x="402771" y="446314"/>
            <a:ext cx="86650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/>
              <a:t>ISO Certification Process (Simplified)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6AE94-A936-703F-1B2A-77580DF91E0E}"/>
              </a:ext>
            </a:extLst>
          </p:cNvPr>
          <p:cNvSpPr txBox="1"/>
          <p:nvPr/>
        </p:nvSpPr>
        <p:spPr>
          <a:xfrm>
            <a:off x="751114" y="1665513"/>
            <a:ext cx="7315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hlinkClick r:id="rId2"/>
              </a:rPr>
              <a:t>Initial consultation</a:t>
            </a:r>
            <a:endParaRPr lang="en-US" sz="2400" b="1" dirty="0"/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Gap analysis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Documentation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Implementation &amp; training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Internal audit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External audit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ISO certificate issued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6392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98EBDD-FC2E-A2EA-3C6D-76BC8EACA232}"/>
              </a:ext>
            </a:extLst>
          </p:cNvPr>
          <p:cNvSpPr txBox="1"/>
          <p:nvPr/>
        </p:nvSpPr>
        <p:spPr>
          <a:xfrm>
            <a:off x="642257" y="293914"/>
            <a:ext cx="8806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Industries That Need ISO Most in KSA</a:t>
            </a:r>
            <a:endParaRPr lang="en-IN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4C2E1-9F21-2999-EEBD-15E152022994}"/>
              </a:ext>
            </a:extLst>
          </p:cNvPr>
          <p:cNvSpPr txBox="1"/>
          <p:nvPr/>
        </p:nvSpPr>
        <p:spPr>
          <a:xfrm>
            <a:off x="827315" y="1001800"/>
            <a:ext cx="747848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Oil &amp; Gas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hlinkClick r:id="rId2"/>
              </a:rPr>
              <a:t>Construction &amp; EPC</a:t>
            </a: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Manufacturing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Food &amp; Catering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IT &amp; Cybersecurity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Healthcare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Logistics &amp; Warehousing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Hospitality Government projects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77416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4AEB4-5509-EE92-4C4A-4C133FA9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36A97A-71EA-8AF4-4A03-696FB9733719}"/>
              </a:ext>
            </a:extLst>
          </p:cNvPr>
          <p:cNvSpPr txBox="1"/>
          <p:nvPr/>
        </p:nvSpPr>
        <p:spPr>
          <a:xfrm>
            <a:off x="0" y="326571"/>
            <a:ext cx="9503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Popular ISO Standards in the Middle East</a:t>
            </a:r>
            <a:endParaRPr lang="en-IN" sz="4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CB719-B471-95E1-E73E-2E803BC84DE0}"/>
              </a:ext>
            </a:extLst>
          </p:cNvPr>
          <p:cNvSpPr txBox="1"/>
          <p:nvPr/>
        </p:nvSpPr>
        <p:spPr>
          <a:xfrm>
            <a:off x="1262744" y="1589314"/>
            <a:ext cx="90569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  <a:p>
            <a:br>
              <a:rPr lang="en-IN" dirty="0"/>
            </a:b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6F79A99-4A5D-72C6-C254-DD636D89F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669355"/>
              </p:ext>
            </p:extLst>
          </p:nvPr>
        </p:nvGraphicFramePr>
        <p:xfrm>
          <a:off x="859972" y="1338072"/>
          <a:ext cx="8838746" cy="4181856"/>
        </p:xfrm>
        <a:graphic>
          <a:graphicData uri="http://schemas.openxmlformats.org/drawingml/2006/table">
            <a:tbl>
              <a:tblPr/>
              <a:tblGrid>
                <a:gridCol w="4228289">
                  <a:extLst>
                    <a:ext uri="{9D8B030D-6E8A-4147-A177-3AD203B41FA5}">
                      <a16:colId xmlns:a16="http://schemas.microsoft.com/office/drawing/2014/main" val="370975343"/>
                    </a:ext>
                  </a:extLst>
                </a:gridCol>
                <a:gridCol w="4610457">
                  <a:extLst>
                    <a:ext uri="{9D8B030D-6E8A-4147-A177-3AD203B41FA5}">
                      <a16:colId xmlns:a16="http://schemas.microsoft.com/office/drawing/2014/main" val="2142140418"/>
                    </a:ext>
                  </a:extLst>
                </a:gridCol>
              </a:tblGrid>
              <a:tr h="522732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559358"/>
                  </a:ext>
                </a:extLst>
              </a:tr>
              <a:tr h="522732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ISO 9001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Quality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288250"/>
                  </a:ext>
                </a:extLst>
              </a:tr>
              <a:tr h="522732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ISO 14001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/>
                        <a:t>Environmental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708149"/>
                  </a:ext>
                </a:extLst>
              </a:tr>
              <a:tr h="522732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ISO 45001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Health &amp; Safety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406968"/>
                  </a:ext>
                </a:extLst>
              </a:tr>
              <a:tr h="522732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ISO 27001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Information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0330549"/>
                  </a:ext>
                </a:extLst>
              </a:tr>
              <a:tr h="522732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/>
                        <a:t>ISO 22000 / HACCP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Food Safety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139685"/>
                  </a:ext>
                </a:extLst>
              </a:tr>
              <a:tr h="522732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/>
                        <a:t>ISO 22301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Business Continuity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938512"/>
                  </a:ext>
                </a:extLst>
              </a:tr>
              <a:tr h="522732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ISO 50001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400" dirty="0"/>
                        <a:t>Energy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768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39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6BFD4-F98C-2E74-2469-F242C049E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44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Why Local GCC Expertise Matters?</a:t>
            </a:r>
            <a:endParaRPr lang="en-IN" sz="40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99CC5-0C7C-80DF-51E4-3D89124BB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305" y="1648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Local consultants understand: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Saudi regulations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Tender expectations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Audit behaviors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Industry-specific risks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52030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28F67-F77A-D292-6BDF-7C0BB9448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820" y="283028"/>
            <a:ext cx="5756123" cy="1110343"/>
          </a:xfrm>
        </p:spPr>
        <p:txBody>
          <a:bodyPr/>
          <a:lstStyle/>
          <a:p>
            <a:r>
              <a:rPr lang="en-IN" sz="4000" dirty="0">
                <a:solidFill>
                  <a:schemeClr val="tx1"/>
                </a:solidFill>
              </a:rPr>
              <a:t>W</a:t>
            </a:r>
            <a:r>
              <a:rPr lang="en-IN" dirty="0">
                <a:solidFill>
                  <a:schemeClr val="tx1"/>
                </a:solidFill>
              </a:rPr>
              <a:t>hy Choose </a:t>
            </a:r>
            <a:r>
              <a:rPr lang="en-IN" dirty="0" err="1">
                <a:solidFill>
                  <a:schemeClr val="tx1"/>
                </a:solidFill>
              </a:rPr>
              <a:t>Maxicert</a:t>
            </a:r>
            <a:r>
              <a:rPr lang="en-IN" dirty="0">
                <a:solidFill>
                  <a:schemeClr val="tx1"/>
                </a:solidFill>
              </a:rPr>
              <a:t> 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D77DF6-512A-B73A-10FA-25A310F498C3}"/>
              </a:ext>
            </a:extLst>
          </p:cNvPr>
          <p:cNvSpPr txBox="1"/>
          <p:nvPr/>
        </p:nvSpPr>
        <p:spPr>
          <a:xfrm>
            <a:off x="688220" y="1393371"/>
            <a:ext cx="92746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Maxicert</a:t>
            </a:r>
            <a:r>
              <a:rPr lang="en-US" sz="2800" b="1" dirty="0"/>
              <a:t> advantages:</a:t>
            </a:r>
          </a:p>
          <a:p>
            <a:endParaRPr lang="en-US" sz="28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ISO experts in Saudi Arabia &amp; GCC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Customized documentation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Remote + onsite support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Faster certification timelines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End-to-end audit support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22863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BA9C-40BF-3AC9-BB71-7C114A9C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362" y="598714"/>
            <a:ext cx="8596668" cy="740229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tx1"/>
                </a:solidFill>
              </a:rPr>
              <a:t>Client Testimonials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4E93D-8F18-E282-8E98-EA8F94EE9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362" y="1583646"/>
            <a:ext cx="8433381" cy="14425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Short quotes only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EPC Contractor – Jeddah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Logistics Company – Riyadh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14323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C1B3D9-69AF-4DDF-AE47-18119F7E8F33}"/>
              </a:ext>
            </a:extLst>
          </p:cNvPr>
          <p:cNvSpPr txBox="1"/>
          <p:nvPr/>
        </p:nvSpPr>
        <p:spPr>
          <a:xfrm>
            <a:off x="729343" y="489856"/>
            <a:ext cx="3886200" cy="729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Call to 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B8CCF1-BEE1-FA19-1B07-90E1CF5B66EC}"/>
              </a:ext>
            </a:extLst>
          </p:cNvPr>
          <p:cNvSpPr txBox="1"/>
          <p:nvPr/>
        </p:nvSpPr>
        <p:spPr>
          <a:xfrm>
            <a:off x="544285" y="1566830"/>
            <a:ext cx="898071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Final message:</a:t>
            </a:r>
            <a:endParaRPr lang="en-US" sz="2400" b="1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ISO Certification is not about passing audits —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It’s about building trust, winning tenders, and growing confidently.</a:t>
            </a:r>
            <a:br>
              <a:rPr lang="en-US" sz="2400" dirty="0"/>
            </a:br>
            <a:r>
              <a:rPr lang="en-US" sz="2400" b="1" dirty="0"/>
              <a:t>CTA:</a:t>
            </a:r>
            <a:br>
              <a:rPr lang="en-US" sz="2400" dirty="0"/>
            </a:br>
            <a:r>
              <a:rPr lang="en-US" sz="2400" dirty="0"/>
              <a:t>📞 Book a free consultation with </a:t>
            </a:r>
            <a:r>
              <a:rPr lang="en-US" sz="2400" dirty="0" err="1"/>
              <a:t>Maxicert</a:t>
            </a:r>
            <a:br>
              <a:rPr lang="en-US" sz="2400" dirty="0"/>
            </a:br>
            <a:r>
              <a:rPr lang="en-US" sz="2400" dirty="0"/>
              <a:t>📧 Start your ISO journey today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259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2773</TotalTime>
  <Words>394</Words>
  <Application>Microsoft Office PowerPoint</Application>
  <PresentationFormat>Widescreen</PresentationFormat>
  <Paragraphs>193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Trebuchet MS</vt:lpstr>
      <vt:lpstr>Wingdings</vt:lpstr>
      <vt:lpstr>Wingdings 3</vt:lpstr>
      <vt:lpstr>Facet</vt:lpstr>
      <vt:lpstr>Why ISO Consultants Matter?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Local GCC Expertise Matters?</vt:lpstr>
      <vt:lpstr>Why Choose Maxicert ?</vt:lpstr>
      <vt:lpstr>Client Testimonials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OWAIS AHMED</dc:creator>
  <cp:lastModifiedBy>OWAIS AHMED</cp:lastModifiedBy>
  <cp:revision>3</cp:revision>
  <dcterms:created xsi:type="dcterms:W3CDTF">2025-12-29T08:21:42Z</dcterms:created>
  <dcterms:modified xsi:type="dcterms:W3CDTF">2025-12-31T06:34:45Z</dcterms:modified>
</cp:coreProperties>
</file>