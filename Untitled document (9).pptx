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A161B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53D3D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A161B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53D3D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A161B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A161B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1012" y="699740"/>
            <a:ext cx="5930374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A161B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2992395"/>
            <a:ext cx="5812790" cy="5163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53D3D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axicert.com/iraq/iso-certification-in-iraq/" TargetMode="External"/><Relationship Id="rId3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iso.org/home.html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axicert.com/iso-14001-environmental-management-system-iraq/" TargetMode="External"/><Relationship Id="rId3" Type="http://schemas.openxmlformats.org/officeDocument/2006/relationships/hyperlink" Target="https://maxicert.com/contact-us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4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120"/>
              <a:t> </a:t>
            </a:r>
            <a:r>
              <a:rPr dirty="0"/>
              <a:t>Do</a:t>
            </a:r>
            <a:r>
              <a:rPr dirty="0" spc="-114"/>
              <a:t> </a:t>
            </a:r>
            <a:r>
              <a:rPr dirty="0"/>
              <a:t>Some</a:t>
            </a:r>
            <a:r>
              <a:rPr dirty="0" spc="-114"/>
              <a:t> </a:t>
            </a:r>
            <a:r>
              <a:rPr dirty="0"/>
              <a:t>Iraqi</a:t>
            </a:r>
            <a:r>
              <a:rPr dirty="0" spc="-120"/>
              <a:t> </a:t>
            </a:r>
            <a:r>
              <a:rPr dirty="0" spc="-10"/>
              <a:t>Organizations </a:t>
            </a:r>
            <a:r>
              <a:rPr dirty="0"/>
              <a:t>Lose</a:t>
            </a:r>
            <a:r>
              <a:rPr dirty="0" spc="-100"/>
              <a:t> </a:t>
            </a:r>
            <a:r>
              <a:rPr dirty="0"/>
              <a:t>Their</a:t>
            </a:r>
            <a:r>
              <a:rPr dirty="0" spc="-95"/>
              <a:t> </a:t>
            </a:r>
            <a:r>
              <a:rPr dirty="0"/>
              <a:t>ISO</a:t>
            </a:r>
            <a:r>
              <a:rPr dirty="0" spc="-95"/>
              <a:t> </a:t>
            </a:r>
            <a:r>
              <a:rPr dirty="0"/>
              <a:t>Certiﬁcate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25"/>
              <a:t>How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/>
              <a:t>Avoid</a:t>
            </a:r>
            <a:r>
              <a:rPr dirty="0" spc="-114"/>
              <a:t> </a:t>
            </a:r>
            <a:r>
              <a:rPr dirty="0" spc="-25"/>
              <a:t>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6166039"/>
            <a:ext cx="5914390" cy="2566670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2050" spc="-10">
                <a:solidFill>
                  <a:srgbClr val="2A161B"/>
                </a:solidFill>
                <a:latin typeface="Roboto"/>
                <a:cs typeface="Roboto"/>
              </a:rPr>
              <a:t>Introduction</a:t>
            </a:r>
            <a:endParaRPr sz="2050">
              <a:latin typeface="Roboto"/>
              <a:cs typeface="Roboto"/>
            </a:endParaRPr>
          </a:p>
          <a:p>
            <a:pPr marL="12700" marR="285750">
              <a:lnSpc>
                <a:spcPct val="114999"/>
              </a:lnSpc>
              <a:spcBef>
                <a:spcPts val="565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Many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organizations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in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Iraq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work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hard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achieve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ISO</a:t>
            </a:r>
            <a:r>
              <a:rPr dirty="0" sz="1200" spc="-4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20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certiﬁcation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.</a:t>
            </a:r>
            <a:r>
              <a:rPr dirty="0" sz="1200" spc="-40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effort, documentation,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and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take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time,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resources,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and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commitment.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Yet,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surprising number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of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companies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lose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their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certiﬁcation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few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years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later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because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they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stopped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caring,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but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because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system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quietly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stopped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working.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truth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simple: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getting</a:t>
            </a:r>
            <a:r>
              <a:rPr dirty="0" sz="1200" spc="-25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20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certiﬁed</a:t>
            </a:r>
            <a:r>
              <a:rPr dirty="0" sz="1200" spc="-20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is</a:t>
            </a:r>
            <a:r>
              <a:rPr dirty="0" sz="1200" spc="-20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one</a:t>
            </a:r>
            <a:r>
              <a:rPr dirty="0" sz="1200" spc="-25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thing;</a:t>
            </a:r>
            <a:r>
              <a:rPr dirty="0" sz="1200" spc="-20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maintaining</a:t>
            </a:r>
            <a:r>
              <a:rPr dirty="0" sz="1200" spc="-20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it</a:t>
            </a:r>
            <a:r>
              <a:rPr dirty="0" sz="1200" spc="-20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453D3D"/>
                </a:solidFill>
                <a:latin typeface="Roboto"/>
                <a:cs typeface="Roboto"/>
              </a:rPr>
              <a:t>is</a:t>
            </a:r>
            <a:r>
              <a:rPr dirty="0" sz="1200" spc="-25" b="1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453D3D"/>
                </a:solidFill>
                <a:latin typeface="Roboto"/>
                <a:cs typeface="Roboto"/>
              </a:rPr>
              <a:t>another.</a:t>
            </a:r>
            <a:endParaRPr sz="1200">
              <a:latin typeface="Roboto"/>
              <a:cs typeface="Roboto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This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article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explains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why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certiﬁcates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are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sometimes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withdrawn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in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Iraq,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what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usually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goes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wrong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after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certiﬁcation,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and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how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organizations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can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avoid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repeating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same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mistakes.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450" y="2854002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719319"/>
            <a:ext cx="5754370" cy="789305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2050">
                <a:solidFill>
                  <a:srgbClr val="2A161B"/>
                </a:solidFill>
                <a:latin typeface="Roboto"/>
                <a:cs typeface="Roboto"/>
              </a:rPr>
              <a:t>Why</a:t>
            </a:r>
            <a:r>
              <a:rPr dirty="0" sz="2050" spc="-50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2A161B"/>
                </a:solidFill>
                <a:latin typeface="Roboto"/>
                <a:cs typeface="Roboto"/>
              </a:rPr>
              <a:t>ISO</a:t>
            </a:r>
            <a:r>
              <a:rPr dirty="0" sz="2050" spc="-4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2A161B"/>
                </a:solidFill>
                <a:latin typeface="Roboto"/>
                <a:cs typeface="Roboto"/>
              </a:rPr>
              <a:t>Certiﬁcation</a:t>
            </a:r>
            <a:r>
              <a:rPr dirty="0" sz="2050" spc="-50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2A161B"/>
                </a:solidFill>
                <a:latin typeface="Roboto"/>
                <a:cs typeface="Roboto"/>
              </a:rPr>
              <a:t>Is</a:t>
            </a:r>
            <a:r>
              <a:rPr dirty="0" sz="2050" spc="-4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2A161B"/>
                </a:solidFill>
                <a:latin typeface="Roboto"/>
                <a:cs typeface="Roboto"/>
              </a:rPr>
              <a:t>Lost</a:t>
            </a:r>
            <a:r>
              <a:rPr dirty="0" sz="2050" spc="-50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2A161B"/>
                </a:solidFill>
                <a:latin typeface="Roboto"/>
                <a:cs typeface="Roboto"/>
              </a:rPr>
              <a:t>After</a:t>
            </a:r>
            <a:r>
              <a:rPr dirty="0" sz="2050" spc="-4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2A161B"/>
                </a:solidFill>
                <a:latin typeface="Roboto"/>
                <a:cs typeface="Roboto"/>
              </a:rPr>
              <a:t>Approval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In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most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cases,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certiﬁcation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suddenly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lost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.Here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are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most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common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reasons.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661996"/>
            <a:ext cx="5742305" cy="72428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735" indent="-153035">
              <a:lnSpc>
                <a:spcPct val="100000"/>
              </a:lnSpc>
              <a:spcBef>
                <a:spcPts val="100"/>
              </a:spcBef>
              <a:buClr>
                <a:srgbClr val="2A161B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Systems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Stop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Reflecting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Real</a:t>
            </a:r>
            <a:r>
              <a:rPr dirty="0" sz="1100" spc="-2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A161B"/>
                </a:solidFill>
                <a:latin typeface="Arial"/>
                <a:cs typeface="Arial"/>
              </a:rPr>
              <a:t>Work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2A161B"/>
              </a:buClr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marL="12700" marR="43180">
              <a:lnSpc>
                <a:spcPct val="114999"/>
              </a:lnSpc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One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of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biggest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reasons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organizations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lose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certiﬁcation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misalignment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between documentation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and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daily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operations.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After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certiﬁcation: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14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Procedures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are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longer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updated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19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Employees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return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old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habits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Documents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exist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only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for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purposes</a:t>
            </a:r>
            <a:endParaRPr sz="12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453D3D"/>
              </a:buClr>
              <a:buFont typeface="Microsoft Sans Serif"/>
              <a:buChar char="●"/>
            </a:pPr>
            <a:endParaRPr sz="1200">
              <a:latin typeface="Roboto"/>
              <a:cs typeface="Roboto"/>
            </a:endParaRPr>
          </a:p>
          <a:p>
            <a:pPr marL="12700" marR="5080">
              <a:lnSpc>
                <a:spcPct val="114999"/>
              </a:lnSpc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When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surveillance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happen,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auditors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quickly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notice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when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systems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exist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only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on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paper.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This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gap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between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“what’s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written”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and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“what’s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done”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often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leads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major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nonconformities.</a:t>
            </a:r>
            <a:endParaRPr sz="1200">
              <a:latin typeface="Roboto"/>
              <a:cs typeface="Roboto"/>
            </a:endParaRPr>
          </a:p>
          <a:p>
            <a:pPr marL="165735" indent="-153035">
              <a:lnSpc>
                <a:spcPct val="100000"/>
              </a:lnSpc>
              <a:spcBef>
                <a:spcPts val="1410"/>
              </a:spcBef>
              <a:buClr>
                <a:srgbClr val="2A161B"/>
              </a:buClr>
              <a:buFont typeface="Arial"/>
              <a:buAutoNum type="arabicPeriod" startAt="2"/>
              <a:tabLst>
                <a:tab pos="165735" algn="l"/>
              </a:tabLst>
            </a:pP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Internal</a:t>
            </a:r>
            <a:r>
              <a:rPr dirty="0" sz="1100" spc="-5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Audits</a:t>
            </a:r>
            <a:r>
              <a:rPr dirty="0" sz="1100" spc="-4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Become</a:t>
            </a:r>
            <a:r>
              <a:rPr dirty="0" sz="1100" spc="-4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a</a:t>
            </a:r>
            <a:r>
              <a:rPr dirty="0" sz="1100" spc="-4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Formality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2A161B"/>
              </a:buClr>
              <a:buFont typeface="Arial"/>
              <a:buAutoNum type="arabicPeriod" startAt="2"/>
            </a:pPr>
            <a:endParaRPr sz="1100">
              <a:latin typeface="Arial"/>
              <a:cs typeface="Arial"/>
            </a:endParaRPr>
          </a:p>
          <a:p>
            <a:pPr marL="12700" marR="90170">
              <a:lnSpc>
                <a:spcPct val="114999"/>
              </a:lnSpc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Internal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are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meant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identify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problems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early.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But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in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many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Iraqi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organizations, they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turn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into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checkbox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activity.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Common</a:t>
            </a:r>
            <a:r>
              <a:rPr dirty="0" sz="1200" spc="-6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issues</a:t>
            </a:r>
            <a:r>
              <a:rPr dirty="0" sz="1200" spc="-6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include: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14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done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in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rush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Same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ﬁndings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repeated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every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year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20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Limited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follow-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up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on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corrective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actions</a:t>
            </a:r>
            <a:endParaRPr sz="12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453D3D"/>
              </a:buClr>
              <a:buFont typeface="Microsoft Sans Serif"/>
              <a:buChar char="●"/>
            </a:pPr>
            <a:endParaRPr sz="1200">
              <a:latin typeface="Roboto"/>
              <a:cs typeface="Roboto"/>
            </a:endParaRPr>
          </a:p>
          <a:p>
            <a:pPr marL="12700" marR="78740">
              <a:lnSpc>
                <a:spcPct val="114999"/>
              </a:lnSpc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Without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honest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internal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audits,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problems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stay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hidden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until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external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auditor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points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them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out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often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too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late.</a:t>
            </a:r>
            <a:endParaRPr sz="1200">
              <a:latin typeface="Roboto"/>
              <a:cs typeface="Roboto"/>
            </a:endParaRPr>
          </a:p>
          <a:p>
            <a:pPr marL="165735" indent="-153035">
              <a:lnSpc>
                <a:spcPct val="100000"/>
              </a:lnSpc>
              <a:spcBef>
                <a:spcPts val="1405"/>
              </a:spcBef>
              <a:buClr>
                <a:srgbClr val="2A161B"/>
              </a:buClr>
              <a:buFont typeface="Arial"/>
              <a:buAutoNum type="arabicPeriod" startAt="3"/>
              <a:tabLst>
                <a:tab pos="165735" algn="l"/>
              </a:tabLst>
            </a:pP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Staff</a:t>
            </a:r>
            <a:r>
              <a:rPr dirty="0" sz="1100" spc="-3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Awareness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Slowly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Declines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When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ISO</a:t>
            </a:r>
            <a:r>
              <a:rPr dirty="0" sz="1200" spc="-20" b="1">
                <a:solidFill>
                  <a:srgbClr val="EF4D48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treated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as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one-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time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project,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staff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engagement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fades.</a:t>
            </a:r>
            <a:endParaRPr sz="1200">
              <a:latin typeface="Roboto"/>
              <a:cs typeface="Roboto"/>
            </a:endParaRPr>
          </a:p>
          <a:p>
            <a:pPr marL="12700" marR="78105">
              <a:lnSpc>
                <a:spcPct val="114999"/>
              </a:lnSpc>
              <a:spcBef>
                <a:spcPts val="1200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New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employees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are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trained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properly.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Existing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staff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forget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procedures.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Over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time,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knowledge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becomes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fragmented.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This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leads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to: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6644"/>
            <a:ext cx="5869940" cy="79724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926465" indent="-22796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Inconsistent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practices</a:t>
            </a:r>
            <a:endParaRPr sz="1200">
              <a:latin typeface="Roboto"/>
              <a:cs typeface="Roboto"/>
            </a:endParaRPr>
          </a:p>
          <a:p>
            <a:pPr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Unclear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responsibilities</a:t>
            </a:r>
            <a:endParaRPr sz="1200">
              <a:latin typeface="Roboto"/>
              <a:cs typeface="Roboto"/>
            </a:endParaRPr>
          </a:p>
          <a:p>
            <a:pPr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Increased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ﬁndings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systems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rely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heavily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on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people,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just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documents.</a:t>
            </a:r>
            <a:endParaRPr sz="1200">
              <a:latin typeface="Roboto"/>
              <a:cs typeface="Roboto"/>
            </a:endParaRPr>
          </a:p>
          <a:p>
            <a:pPr marL="165735" indent="-153035">
              <a:lnSpc>
                <a:spcPct val="100000"/>
              </a:lnSpc>
              <a:spcBef>
                <a:spcPts val="1405"/>
              </a:spcBef>
              <a:buClr>
                <a:srgbClr val="2A161B"/>
              </a:buClr>
              <a:buFont typeface="Arial"/>
              <a:buAutoNum type="arabicPeriod" startAt="4"/>
              <a:tabLst>
                <a:tab pos="165735" algn="l"/>
              </a:tabLst>
            </a:pP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Changes</a:t>
            </a:r>
            <a:r>
              <a:rPr dirty="0" sz="1100" spc="-3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Are</a:t>
            </a:r>
            <a:r>
              <a:rPr dirty="0" sz="1100" spc="-3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Not</a:t>
            </a:r>
            <a:r>
              <a:rPr dirty="0" sz="1100" spc="-3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Properly</a:t>
            </a:r>
            <a:r>
              <a:rPr dirty="0" sz="1100" spc="-3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Managed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Clr>
                <a:srgbClr val="2A161B"/>
              </a:buClr>
              <a:buFont typeface="Arial"/>
              <a:buAutoNum type="arabicPeriod" startAt="4"/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Organizations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evolve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new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clients,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new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services,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new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locations.</a:t>
            </a:r>
            <a:endParaRPr sz="1200">
              <a:latin typeface="Roboto"/>
              <a:cs typeface="Roboto"/>
            </a:endParaRPr>
          </a:p>
          <a:p>
            <a:pPr marL="12700" marR="1048385">
              <a:lnSpc>
                <a:spcPct val="198400"/>
              </a:lnSpc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But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many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fail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update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their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systems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when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these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changes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happen.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Common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oversights</a:t>
            </a:r>
            <a:r>
              <a:rPr dirty="0" sz="1200" spc="-5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include: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14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revising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risk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assessments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Outdated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process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maps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Unapproved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changes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workﬂows</a:t>
            </a:r>
            <a:endParaRPr sz="12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453D3D"/>
              </a:buClr>
              <a:buFont typeface="Microsoft Sans Serif"/>
              <a:buChar char="●"/>
            </a:pPr>
            <a:endParaRPr sz="1200">
              <a:latin typeface="Roboto"/>
              <a:cs typeface="Roboto"/>
            </a:endParaRPr>
          </a:p>
          <a:p>
            <a:pPr marL="12700" marR="227329">
              <a:lnSpc>
                <a:spcPct val="114999"/>
              </a:lnSpc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Auditors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often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ﬁnd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this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serious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issue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because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it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shows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system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longer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being</a:t>
            </a:r>
            <a:r>
              <a:rPr dirty="0" sz="1200" spc="-6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monitored.</a:t>
            </a:r>
            <a:endParaRPr sz="1200">
              <a:latin typeface="Roboto"/>
              <a:cs typeface="Roboto"/>
            </a:endParaRPr>
          </a:p>
          <a:p>
            <a:pPr marL="165735" indent="-153035">
              <a:lnSpc>
                <a:spcPct val="100000"/>
              </a:lnSpc>
              <a:spcBef>
                <a:spcPts val="1410"/>
              </a:spcBef>
              <a:buClr>
                <a:srgbClr val="2A161B"/>
              </a:buClr>
              <a:buFont typeface="Arial"/>
              <a:buAutoNum type="arabicPeriod" startAt="5"/>
              <a:tabLst>
                <a:tab pos="165735" algn="l"/>
              </a:tabLst>
            </a:pP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Lack</a:t>
            </a:r>
            <a:r>
              <a:rPr dirty="0" sz="1100" spc="-35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of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161B"/>
                </a:solidFill>
                <a:latin typeface="Arial"/>
                <a:cs typeface="Arial"/>
              </a:rPr>
              <a:t>Ongoing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Leadership</a:t>
            </a:r>
            <a:r>
              <a:rPr dirty="0" sz="1100" spc="-30" b="1">
                <a:solidFill>
                  <a:srgbClr val="2A161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161B"/>
                </a:solidFill>
                <a:latin typeface="Arial"/>
                <a:cs typeface="Arial"/>
              </a:rPr>
              <a:t>Support</a:t>
            </a:r>
            <a:endParaRPr sz="1100">
              <a:latin typeface="Arial"/>
              <a:cs typeface="Arial"/>
            </a:endParaRPr>
          </a:p>
          <a:p>
            <a:pPr marL="12700" marR="2089785">
              <a:lnSpc>
                <a:spcPct val="198400"/>
              </a:lnSpc>
              <a:spcBef>
                <a:spcPts val="290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certiﬁcation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needs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ongoing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 leadership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involvement.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When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management attention</a:t>
            </a:r>
            <a:r>
              <a:rPr dirty="0" sz="1200" spc="-1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fades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after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 certiﬁcation: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14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Reviews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stop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happening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regularly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Improvement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actions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are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delayed</a:t>
            </a:r>
            <a:endParaRPr sz="1200">
              <a:latin typeface="Roboto"/>
              <a:cs typeface="Roboto"/>
            </a:endParaRPr>
          </a:p>
          <a:p>
            <a:pPr lvl="1"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Teams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lose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motivation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Without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leadership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direction,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system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slowly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weakens.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500">
                <a:solidFill>
                  <a:srgbClr val="2A161B"/>
                </a:solidFill>
                <a:latin typeface="Roboto"/>
                <a:cs typeface="Roboto"/>
              </a:rPr>
              <a:t>A</a:t>
            </a:r>
            <a:r>
              <a:rPr dirty="0" sz="2500" spc="-3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2A161B"/>
                </a:solidFill>
                <a:latin typeface="Roboto"/>
                <a:cs typeface="Roboto"/>
              </a:rPr>
              <a:t>Common</a:t>
            </a:r>
            <a:r>
              <a:rPr dirty="0" sz="2500" spc="-30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2A161B"/>
                </a:solidFill>
                <a:latin typeface="Roboto"/>
                <a:cs typeface="Roboto"/>
              </a:rPr>
              <a:t>Example</a:t>
            </a:r>
            <a:r>
              <a:rPr dirty="0" sz="2500" spc="-3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2A161B"/>
                </a:solidFill>
                <a:latin typeface="Roboto"/>
                <a:cs typeface="Roboto"/>
              </a:rPr>
              <a:t>from</a:t>
            </a:r>
            <a:r>
              <a:rPr dirty="0" sz="2500" spc="-30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 spc="-20">
                <a:solidFill>
                  <a:srgbClr val="2A161B"/>
                </a:solidFill>
                <a:latin typeface="Roboto"/>
                <a:cs typeface="Roboto"/>
              </a:rPr>
              <a:t>Iraq</a:t>
            </a:r>
            <a:endParaRPr sz="2500">
              <a:latin typeface="Roboto"/>
              <a:cs typeface="Roboto"/>
            </a:endParaRPr>
          </a:p>
          <a:p>
            <a:pPr marL="12700" marR="5080">
              <a:lnSpc>
                <a:spcPct val="114999"/>
              </a:lnSpc>
              <a:spcBef>
                <a:spcPts val="750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mid-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sized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service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company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in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Iraq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achieved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certiﬁcation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with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strong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preparation.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But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over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time,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management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shifted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focus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operations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only.</a:t>
            </a:r>
            <a:endParaRPr sz="1200">
              <a:latin typeface="Roboto"/>
              <a:cs typeface="Roboto"/>
            </a:endParaRPr>
          </a:p>
          <a:p>
            <a:pPr marL="12700" marR="490220">
              <a:lnSpc>
                <a:spcPct val="114999"/>
              </a:lnSpc>
              <a:spcBef>
                <a:spcPts val="1200"/>
              </a:spcBef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Internal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were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skipped.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New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staff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were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trained.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Documentation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wasn’t updated.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66646"/>
            <a:ext cx="5777865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When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surveillance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arrived,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the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company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faced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multiple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nonconformities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and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nearly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lost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its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certiﬁcate.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Only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after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rebuilding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internal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processes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and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assigning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clear responsibilities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were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they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able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to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recover.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1700" y="1593050"/>
            <a:ext cx="5210810" cy="1417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713740">
              <a:lnSpc>
                <a:spcPct val="120000"/>
              </a:lnSpc>
              <a:spcBef>
                <a:spcPts val="100"/>
              </a:spcBef>
            </a:pPr>
            <a:r>
              <a:rPr dirty="0" sz="2500"/>
              <a:t>How</a:t>
            </a:r>
            <a:r>
              <a:rPr dirty="0" sz="2500" spc="-85"/>
              <a:t> </a:t>
            </a:r>
            <a:r>
              <a:rPr dirty="0" sz="2500"/>
              <a:t>to</a:t>
            </a:r>
            <a:r>
              <a:rPr dirty="0" sz="2500" spc="-85"/>
              <a:t> </a:t>
            </a:r>
            <a:r>
              <a:rPr dirty="0" sz="2500" spc="-20"/>
              <a:t>Prevent</a:t>
            </a:r>
            <a:r>
              <a:rPr dirty="0" sz="2500" spc="-80"/>
              <a:t> </a:t>
            </a:r>
            <a:r>
              <a:rPr dirty="0" sz="2500" spc="-10"/>
              <a:t>Losing</a:t>
            </a:r>
            <a:r>
              <a:rPr dirty="0" sz="2500" spc="-85"/>
              <a:t> </a:t>
            </a:r>
            <a:r>
              <a:rPr dirty="0" sz="2500" spc="-45"/>
              <a:t>Your</a:t>
            </a:r>
            <a:r>
              <a:rPr dirty="0" sz="2500" spc="-80"/>
              <a:t> </a:t>
            </a:r>
            <a:r>
              <a:rPr dirty="0" sz="2500" spc="-25"/>
              <a:t>ISO </a:t>
            </a:r>
            <a:r>
              <a:rPr dirty="0" sz="2500" spc="-10"/>
              <a:t>Certiﬁcation</a:t>
            </a:r>
            <a:endParaRPr sz="2500"/>
          </a:p>
          <a:p>
            <a:pPr marL="12700" marR="5080">
              <a:lnSpc>
                <a:spcPct val="114999"/>
              </a:lnSpc>
              <a:spcBef>
                <a:spcPts val="450"/>
              </a:spcBef>
            </a:pPr>
            <a:r>
              <a:rPr dirty="0" sz="1200" spc="-10">
                <a:solidFill>
                  <a:srgbClr val="453D3D"/>
                </a:solidFill>
              </a:rPr>
              <a:t>Organizations</a:t>
            </a:r>
            <a:r>
              <a:rPr dirty="0" sz="1200" spc="-35">
                <a:solidFill>
                  <a:srgbClr val="453D3D"/>
                </a:solidFill>
              </a:rPr>
              <a:t> </a:t>
            </a:r>
            <a:r>
              <a:rPr dirty="0" sz="1200">
                <a:solidFill>
                  <a:srgbClr val="453D3D"/>
                </a:solidFill>
              </a:rPr>
              <a:t>that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 spc="-10">
                <a:solidFill>
                  <a:srgbClr val="453D3D"/>
                </a:solidFill>
              </a:rPr>
              <a:t>maintain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 spc="-10">
                <a:solidFill>
                  <a:srgbClr val="453D3D"/>
                </a:solidFill>
              </a:rPr>
              <a:t>certiﬁcation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 spc="-10">
                <a:solidFill>
                  <a:srgbClr val="453D3D"/>
                </a:solidFill>
              </a:rPr>
              <a:t>successfully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>
                <a:solidFill>
                  <a:srgbClr val="453D3D"/>
                </a:solidFill>
              </a:rPr>
              <a:t>tend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>
                <a:solidFill>
                  <a:srgbClr val="453D3D"/>
                </a:solidFill>
              </a:rPr>
              <a:t>to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>
                <a:solidFill>
                  <a:srgbClr val="453D3D"/>
                </a:solidFill>
              </a:rPr>
              <a:t>do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>
                <a:solidFill>
                  <a:srgbClr val="453D3D"/>
                </a:solidFill>
              </a:rPr>
              <a:t>a</a:t>
            </a:r>
            <a:r>
              <a:rPr dirty="0" sz="1200" spc="-25">
                <a:solidFill>
                  <a:srgbClr val="453D3D"/>
                </a:solidFill>
              </a:rPr>
              <a:t> </a:t>
            </a:r>
            <a:r>
              <a:rPr dirty="0" sz="1200">
                <a:solidFill>
                  <a:srgbClr val="453D3D"/>
                </a:solidFill>
              </a:rPr>
              <a:t>few</a:t>
            </a:r>
            <a:r>
              <a:rPr dirty="0" sz="1200" spc="-20">
                <a:solidFill>
                  <a:srgbClr val="453D3D"/>
                </a:solidFill>
              </a:rPr>
              <a:t> </a:t>
            </a:r>
            <a:r>
              <a:rPr dirty="0" sz="1200" spc="-10">
                <a:solidFill>
                  <a:srgbClr val="453D3D"/>
                </a:solidFill>
              </a:rPr>
              <a:t>things consistently:</a:t>
            </a:r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1587500" y="3137725"/>
            <a:ext cx="4034790" cy="10775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Keep</a:t>
            </a:r>
            <a:r>
              <a:rPr dirty="0" sz="1200" spc="-5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procedures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aligned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with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real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daily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work</a:t>
            </a:r>
            <a:endParaRPr sz="1200">
              <a:latin typeface="Roboto"/>
              <a:cs typeface="Roboto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Conduct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meaningful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internal</a:t>
            </a:r>
            <a:r>
              <a:rPr dirty="0" sz="1200" spc="-3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audits</a:t>
            </a:r>
            <a:endParaRPr sz="1200">
              <a:latin typeface="Roboto"/>
              <a:cs typeface="Roboto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Train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employees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regularly</a:t>
            </a:r>
            <a:endParaRPr sz="1200">
              <a:latin typeface="Roboto"/>
              <a:cs typeface="Roboto"/>
            </a:endParaRPr>
          </a:p>
          <a:p>
            <a:pPr marL="240665" indent="-227965">
              <a:lnSpc>
                <a:spcPct val="100000"/>
              </a:lnSpc>
              <a:spcBef>
                <a:spcPts val="220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Review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risks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and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changes</a:t>
            </a:r>
            <a:r>
              <a:rPr dirty="0" sz="1200" spc="-4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on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time</a:t>
            </a:r>
            <a:endParaRPr sz="1200">
              <a:latin typeface="Roboto"/>
              <a:cs typeface="Roboto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240665" algn="l"/>
              </a:tabLst>
            </a:pP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Treat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ISO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as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53D3D"/>
                </a:solidFill>
                <a:latin typeface="Roboto"/>
                <a:cs typeface="Roboto"/>
              </a:rPr>
              <a:t>management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system,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not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53D3D"/>
                </a:solidFill>
                <a:latin typeface="Roboto"/>
                <a:cs typeface="Roboto"/>
              </a:rPr>
              <a:t>a</a:t>
            </a:r>
            <a:r>
              <a:rPr dirty="0" sz="1200" spc="-30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40">
                <a:solidFill>
                  <a:srgbClr val="453D3D"/>
                </a:solidFill>
                <a:latin typeface="Roboto"/>
                <a:cs typeface="Roboto"/>
              </a:rPr>
              <a:t>one-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time</a:t>
            </a:r>
            <a:r>
              <a:rPr dirty="0" sz="1200" spc="-25">
                <a:solidFill>
                  <a:srgbClr val="453D3D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453D3D"/>
                </a:solidFill>
                <a:latin typeface="Roboto"/>
                <a:cs typeface="Roboto"/>
              </a:rPr>
              <a:t>task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4361023"/>
            <a:ext cx="570738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500">
                <a:solidFill>
                  <a:srgbClr val="2A161B"/>
                </a:solidFill>
                <a:latin typeface="Roboto"/>
                <a:cs typeface="Roboto"/>
              </a:rPr>
              <a:t>Simple</a:t>
            </a:r>
            <a:r>
              <a:rPr dirty="0" sz="2500" spc="-10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2A161B"/>
                </a:solidFill>
                <a:latin typeface="Roboto"/>
                <a:cs typeface="Roboto"/>
              </a:rPr>
              <a:t>Comparison:</a:t>
            </a:r>
            <a:r>
              <a:rPr dirty="0" sz="2500" spc="-100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 spc="-20">
                <a:solidFill>
                  <a:srgbClr val="2A161B"/>
                </a:solidFill>
                <a:latin typeface="Roboto"/>
                <a:cs typeface="Roboto"/>
              </a:rPr>
              <a:t>Strong</a:t>
            </a:r>
            <a:r>
              <a:rPr dirty="0" sz="2500" spc="-10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2A161B"/>
                </a:solidFill>
                <a:latin typeface="Roboto"/>
                <a:cs typeface="Roboto"/>
              </a:rPr>
              <a:t>vs</a:t>
            </a:r>
            <a:r>
              <a:rPr dirty="0" sz="2500" spc="-100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2A161B"/>
                </a:solidFill>
                <a:latin typeface="Roboto"/>
                <a:cs typeface="Roboto"/>
              </a:rPr>
              <a:t>Weak</a:t>
            </a:r>
            <a:r>
              <a:rPr dirty="0" sz="2500" spc="-105">
                <a:solidFill>
                  <a:srgbClr val="2A161B"/>
                </a:solidFill>
                <a:latin typeface="Roboto"/>
                <a:cs typeface="Roboto"/>
              </a:rPr>
              <a:t> </a:t>
            </a:r>
            <a:r>
              <a:rPr dirty="0" sz="2500" spc="-25">
                <a:solidFill>
                  <a:srgbClr val="2A161B"/>
                </a:solidFill>
                <a:latin typeface="Roboto"/>
                <a:cs typeface="Roboto"/>
              </a:rPr>
              <a:t>ISO </a:t>
            </a:r>
            <a:r>
              <a:rPr dirty="0" sz="2500" spc="-10">
                <a:solidFill>
                  <a:srgbClr val="2A161B"/>
                </a:solidFill>
                <a:latin typeface="Roboto"/>
                <a:cs typeface="Roboto"/>
              </a:rPr>
              <a:t>Management</a:t>
            </a:r>
            <a:endParaRPr sz="2500">
              <a:latin typeface="Roboto"/>
              <a:cs typeface="Robot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8050" y="5378450"/>
          <a:ext cx="6038850" cy="3229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0850"/>
                <a:gridCol w="2057400"/>
                <a:gridCol w="2171700"/>
              </a:tblGrid>
              <a:tr h="79311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200" spc="-2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Area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92710">
                    <a:lnR w="12700">
                      <a:solidFill>
                        <a:srgbClr val="DDDDDD"/>
                      </a:solidFill>
                      <a:prstDash val="solid"/>
                    </a:lnR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20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Weak</a:t>
                      </a:r>
                      <a:r>
                        <a:rPr dirty="0" sz="1200" spc="-3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ISO</a:t>
                      </a:r>
                      <a:r>
                        <a:rPr dirty="0" sz="1200" spc="-25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Practice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20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Strong</a:t>
                      </a:r>
                      <a:r>
                        <a:rPr dirty="0" sz="1200" spc="-15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ISO</a:t>
                      </a:r>
                      <a:r>
                        <a:rPr dirty="0" sz="1200" spc="-15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Practice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Documentation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9220"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Updated</a:t>
                      </a:r>
                      <a:r>
                        <a:rPr dirty="0" sz="1200" spc="-3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only</a:t>
                      </a:r>
                      <a:r>
                        <a:rPr dirty="0" sz="1200" spc="-3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dirty="0" sz="1200" spc="-3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audits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Updated</a:t>
                      </a:r>
                      <a:r>
                        <a:rPr dirty="0" sz="1200" spc="-4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as</a:t>
                      </a:r>
                      <a:r>
                        <a:rPr dirty="0" sz="1200" spc="-4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work</a:t>
                      </a:r>
                      <a:r>
                        <a:rPr dirty="0" sz="1200" spc="-3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evolves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Internal</a:t>
                      </a:r>
                      <a:r>
                        <a:rPr dirty="0" sz="1200" spc="-5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audits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6680"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Rushed</a:t>
                      </a:r>
                      <a:r>
                        <a:rPr dirty="0" sz="1200" spc="-3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dirty="0" sz="1200" spc="-2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skipped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Planned</a:t>
                      </a:r>
                      <a:r>
                        <a:rPr dirty="0" sz="1200" spc="-4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1200" spc="-4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honest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Staff</a:t>
                      </a:r>
                      <a:r>
                        <a:rPr dirty="0" sz="1200" spc="-3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awareness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4775"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Limited</a:t>
                      </a:r>
                      <a:r>
                        <a:rPr dirty="0" sz="1200" spc="-4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dirty="0" sz="1200" spc="-4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managers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Shared</a:t>
                      </a:r>
                      <a:r>
                        <a:rPr dirty="0" sz="1200" spc="-6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across</a:t>
                      </a:r>
                      <a:r>
                        <a:rPr dirty="0" sz="1200" spc="-7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teams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8050" y="914400"/>
          <a:ext cx="6038850" cy="1612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0850"/>
                <a:gridCol w="2057400"/>
                <a:gridCol w="2171700"/>
              </a:tblGrid>
              <a:tr h="79946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Leadership</a:t>
                      </a:r>
                      <a:r>
                        <a:rPr dirty="0" sz="1200" spc="-2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2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role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0330"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Minimal</a:t>
                      </a:r>
                      <a:r>
                        <a:rPr dirty="0" sz="1200" spc="-25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involvement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Active</a:t>
                      </a:r>
                      <a:r>
                        <a:rPr dirty="0" sz="1200" spc="-4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oversight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Certiﬁcation</a:t>
                      </a:r>
                      <a:r>
                        <a:rPr dirty="0" sz="1200" spc="-7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status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10489"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At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2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risk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Stable</a:t>
                      </a:r>
                      <a:r>
                        <a:rPr dirty="0" sz="1200" spc="-7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1200" spc="-7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200" spc="-10">
                          <a:solidFill>
                            <a:srgbClr val="453D3D"/>
                          </a:solidFill>
                          <a:latin typeface="Roboto"/>
                          <a:cs typeface="Roboto"/>
                        </a:rPr>
                        <a:t>maintained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DDDDDD"/>
                      </a:solidFill>
                      <a:prstDash val="solid"/>
                    </a:lnL>
                    <a:lnR w="12700">
                      <a:solidFill>
                        <a:srgbClr val="DDDDDD"/>
                      </a:solidFill>
                      <a:prstDash val="solid"/>
                    </a:lnR>
                    <a:lnT w="12700">
                      <a:solidFill>
                        <a:srgbClr val="DDDDDD"/>
                      </a:solidFill>
                      <a:prstDash val="solid"/>
                    </a:lnT>
                    <a:lnB w="1270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1700" y="2516252"/>
            <a:ext cx="583184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/>
              <a:t>How</a:t>
            </a:r>
            <a:r>
              <a:rPr dirty="0" sz="2500" spc="-45"/>
              <a:t> </a:t>
            </a:r>
            <a:r>
              <a:rPr dirty="0" sz="2500" spc="-35"/>
              <a:t>Maxicert’sISO</a:t>
            </a:r>
            <a:r>
              <a:rPr dirty="0" sz="2500" spc="-45"/>
              <a:t> </a:t>
            </a:r>
            <a:r>
              <a:rPr dirty="0" sz="2500" spc="-25"/>
              <a:t>Consultants</a:t>
            </a:r>
            <a:r>
              <a:rPr dirty="0" sz="2500" spc="-45"/>
              <a:t> </a:t>
            </a:r>
            <a:r>
              <a:rPr dirty="0" sz="2500"/>
              <a:t>Can</a:t>
            </a:r>
            <a:r>
              <a:rPr dirty="0" sz="2500" spc="-45"/>
              <a:t> </a:t>
            </a:r>
            <a:r>
              <a:rPr dirty="0" sz="2500" spc="-20"/>
              <a:t>Help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246379">
              <a:lnSpc>
                <a:spcPct val="114999"/>
              </a:lnSpc>
              <a:spcBef>
                <a:spcPts val="100"/>
              </a:spcBef>
            </a:pPr>
            <a:r>
              <a:rPr dirty="0"/>
              <a:t>Many</a:t>
            </a:r>
            <a:r>
              <a:rPr dirty="0" spc="-50"/>
              <a:t> </a:t>
            </a:r>
            <a:r>
              <a:rPr dirty="0" spc="-10"/>
              <a:t>Iraqi</a:t>
            </a:r>
            <a:r>
              <a:rPr dirty="0" spc="-50"/>
              <a:t> </a:t>
            </a:r>
            <a:r>
              <a:rPr dirty="0" spc="-10"/>
              <a:t>organizations</a:t>
            </a:r>
            <a:r>
              <a:rPr dirty="0" spc="-50"/>
              <a:t> </a:t>
            </a:r>
            <a:r>
              <a:rPr dirty="0"/>
              <a:t>work</a:t>
            </a:r>
            <a:r>
              <a:rPr dirty="0" spc="-50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/>
              <a:t>experienced</a:t>
            </a:r>
            <a:r>
              <a:rPr dirty="0" spc="-50"/>
              <a:t> </a:t>
            </a:r>
            <a:r>
              <a:rPr dirty="0"/>
              <a:t>ISO</a:t>
            </a:r>
            <a:r>
              <a:rPr dirty="0" spc="-50"/>
              <a:t> </a:t>
            </a:r>
            <a:r>
              <a:rPr dirty="0" spc="-10"/>
              <a:t>consultants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 spc="-10"/>
              <a:t>avoid</a:t>
            </a:r>
            <a:r>
              <a:rPr dirty="0" spc="-45"/>
              <a:t> </a:t>
            </a:r>
            <a:r>
              <a:rPr dirty="0" spc="-10"/>
              <a:t>common mistakes.</a:t>
            </a: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b="1">
                <a:latin typeface="Roboto"/>
                <a:cs typeface="Roboto"/>
              </a:rPr>
              <a:t>Maxicert</a:t>
            </a:r>
            <a:r>
              <a:rPr dirty="0" spc="-35" b="1">
                <a:latin typeface="Roboto"/>
                <a:cs typeface="Roboto"/>
              </a:rPr>
              <a:t> </a:t>
            </a:r>
            <a:r>
              <a:rPr dirty="0" spc="-10"/>
              <a:t>provides</a:t>
            </a:r>
            <a:r>
              <a:rPr dirty="0" spc="-35"/>
              <a:t> </a:t>
            </a:r>
            <a:r>
              <a:rPr dirty="0" spc="-10"/>
              <a:t>support</a:t>
            </a:r>
            <a:r>
              <a:rPr dirty="0" spc="-35"/>
              <a:t> </a:t>
            </a:r>
            <a:r>
              <a:rPr dirty="0"/>
              <a:t>that</a:t>
            </a:r>
            <a:r>
              <a:rPr dirty="0" spc="-35"/>
              <a:t> </a:t>
            </a:r>
            <a:r>
              <a:rPr dirty="0" spc="-10"/>
              <a:t>includes:</a:t>
            </a:r>
          </a:p>
          <a:p>
            <a:pPr marL="926465" indent="-227965">
              <a:lnSpc>
                <a:spcPct val="100000"/>
              </a:lnSpc>
              <a:spcBef>
                <a:spcPts val="14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pc="-10"/>
              <a:t>Aligning</a:t>
            </a:r>
            <a:r>
              <a:rPr dirty="0" spc="-50"/>
              <a:t> </a:t>
            </a:r>
            <a:r>
              <a:rPr dirty="0" spc="-10"/>
              <a:t>documentation</a:t>
            </a:r>
            <a:r>
              <a:rPr dirty="0" spc="-50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/>
              <a:t>actual</a:t>
            </a:r>
            <a:r>
              <a:rPr dirty="0" spc="-50"/>
              <a:t> </a:t>
            </a:r>
            <a:r>
              <a:rPr dirty="0" spc="-10"/>
              <a:t>operations</a:t>
            </a:r>
          </a:p>
          <a:p>
            <a:pPr marL="926465" indent="-227965">
              <a:lnSpc>
                <a:spcPct val="100000"/>
              </a:lnSpc>
              <a:spcBef>
                <a:spcPts val="219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pc="-25"/>
              <a:t>Training</a:t>
            </a:r>
            <a:r>
              <a:rPr dirty="0" spc="-35"/>
              <a:t> </a:t>
            </a:r>
            <a:r>
              <a:rPr dirty="0"/>
              <a:t>teams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simple,</a:t>
            </a:r>
            <a:r>
              <a:rPr dirty="0" spc="-30"/>
              <a:t> </a:t>
            </a:r>
            <a:r>
              <a:rPr dirty="0" spc="-10"/>
              <a:t>practical</a:t>
            </a:r>
            <a:r>
              <a:rPr dirty="0" spc="-35"/>
              <a:t> </a:t>
            </a:r>
            <a:r>
              <a:rPr dirty="0" spc="-10"/>
              <a:t>terms</a:t>
            </a:r>
          </a:p>
          <a:p>
            <a:pPr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pc="-10"/>
              <a:t>Preparing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45"/>
              <a:t> </a:t>
            </a:r>
            <a:r>
              <a:rPr dirty="0" spc="-10"/>
              <a:t>audits</a:t>
            </a:r>
            <a:r>
              <a:rPr dirty="0" spc="-40"/>
              <a:t> </a:t>
            </a:r>
            <a:r>
              <a:rPr dirty="0" spc="-10"/>
              <a:t>without</a:t>
            </a:r>
            <a:r>
              <a:rPr dirty="0" spc="-45"/>
              <a:t> </a:t>
            </a:r>
            <a:r>
              <a:rPr dirty="0" spc="-10"/>
              <a:t>stress</a:t>
            </a:r>
          </a:p>
          <a:p>
            <a:pPr marL="9264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●"/>
              <a:tabLst>
                <a:tab pos="926465" algn="l"/>
              </a:tabLst>
            </a:pPr>
            <a:r>
              <a:rPr dirty="0" spc="-10"/>
              <a:t>Building</a:t>
            </a:r>
            <a:r>
              <a:rPr dirty="0" spc="-40"/>
              <a:t> </a:t>
            </a:r>
            <a:r>
              <a:rPr dirty="0"/>
              <a:t>systems</a:t>
            </a:r>
            <a:r>
              <a:rPr dirty="0" spc="-40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 spc="-10"/>
              <a:t>stay</a:t>
            </a:r>
            <a:r>
              <a:rPr dirty="0" spc="-40"/>
              <a:t> </a:t>
            </a:r>
            <a:r>
              <a:rPr dirty="0"/>
              <a:t>effective</a:t>
            </a:r>
            <a:r>
              <a:rPr dirty="0" spc="-40"/>
              <a:t> </a:t>
            </a:r>
            <a:r>
              <a:rPr dirty="0" spc="-35"/>
              <a:t>long-</a:t>
            </a:r>
            <a:r>
              <a:rPr dirty="0" spc="-20"/>
              <a:t>term</a:t>
            </a:r>
          </a:p>
          <a:p>
            <a:pPr>
              <a:lnSpc>
                <a:spcPct val="100000"/>
              </a:lnSpc>
              <a:spcBef>
                <a:spcPts val="57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goal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not</a:t>
            </a:r>
            <a:r>
              <a:rPr dirty="0" spc="-40"/>
              <a:t> </a:t>
            </a:r>
            <a:r>
              <a:rPr dirty="0" spc="-10"/>
              <a:t>just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pass</a:t>
            </a:r>
            <a:r>
              <a:rPr dirty="0" spc="-40"/>
              <a:t> </a:t>
            </a:r>
            <a:r>
              <a:rPr dirty="0"/>
              <a:t>an</a:t>
            </a:r>
            <a:r>
              <a:rPr dirty="0" spc="-35"/>
              <a:t> </a:t>
            </a:r>
            <a:r>
              <a:rPr dirty="0" spc="-10"/>
              <a:t>audit</a:t>
            </a:r>
            <a:r>
              <a:rPr dirty="0" spc="-35"/>
              <a:t> </a:t>
            </a:r>
            <a:r>
              <a:rPr dirty="0"/>
              <a:t>but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keep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certiﬁcation</a:t>
            </a:r>
            <a:r>
              <a:rPr dirty="0" spc="-40"/>
              <a:t> </a:t>
            </a:r>
            <a:r>
              <a:rPr dirty="0"/>
              <a:t>year</a:t>
            </a:r>
            <a:r>
              <a:rPr dirty="0" spc="-35"/>
              <a:t> </a:t>
            </a:r>
            <a:r>
              <a:rPr dirty="0"/>
              <a:t>after</a:t>
            </a:r>
            <a:r>
              <a:rPr dirty="0" spc="-35"/>
              <a:t> </a:t>
            </a:r>
            <a:r>
              <a:rPr dirty="0" spc="-10"/>
              <a:t>year.</a:t>
            </a: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Want</a:t>
            </a:r>
            <a:r>
              <a:rPr dirty="0" spc="-2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to</a:t>
            </a:r>
            <a:r>
              <a:rPr dirty="0" spc="-15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build</a:t>
            </a:r>
            <a:r>
              <a:rPr dirty="0" spc="-2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an</a:t>
            </a:r>
            <a:r>
              <a:rPr dirty="0" spc="-15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Environmental</a:t>
            </a:r>
            <a:r>
              <a:rPr dirty="0" spc="-2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Management</a:t>
            </a:r>
            <a:r>
              <a:rPr dirty="0" spc="-15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System</a:t>
            </a:r>
            <a:r>
              <a:rPr dirty="0" spc="-2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(EMS)</a:t>
            </a:r>
            <a:r>
              <a:rPr dirty="0" spc="-15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That</a:t>
            </a:r>
            <a:r>
              <a:rPr dirty="0" spc="-2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Actually</a:t>
            </a:r>
            <a:r>
              <a:rPr dirty="0" spc="-15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pc="-10" b="1">
                <a:solidFill>
                  <a:srgbClr val="EF4D48"/>
                </a:solidFill>
                <a:latin typeface="Roboto"/>
                <a:cs typeface="Roboto"/>
                <a:hlinkClick r:id="rId2"/>
              </a:rPr>
              <a:t>Works?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330"/>
              </a:spcBef>
            </a:pPr>
          </a:p>
          <a:p>
            <a:pPr marL="12700">
              <a:lnSpc>
                <a:spcPct val="100000"/>
              </a:lnSpc>
            </a:pPr>
            <a:r>
              <a:rPr dirty="0" sz="2500" spc="-10">
                <a:solidFill>
                  <a:srgbClr val="2A161B"/>
                </a:solidFill>
              </a:rPr>
              <a:t>Conclusion</a:t>
            </a:r>
            <a:endParaRPr sz="2500"/>
          </a:p>
          <a:p>
            <a:pPr marL="12700" marR="5715">
              <a:lnSpc>
                <a:spcPct val="114999"/>
              </a:lnSpc>
              <a:spcBef>
                <a:spcPts val="600"/>
              </a:spcBef>
            </a:pPr>
            <a:r>
              <a:rPr dirty="0"/>
              <a:t>Most</a:t>
            </a:r>
            <a:r>
              <a:rPr dirty="0" spc="-45"/>
              <a:t> </a:t>
            </a:r>
            <a:r>
              <a:rPr dirty="0"/>
              <a:t>companies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10"/>
              <a:t>Iraq</a:t>
            </a:r>
            <a:r>
              <a:rPr dirty="0" spc="-40"/>
              <a:t> </a:t>
            </a:r>
            <a:r>
              <a:rPr dirty="0" spc="-25"/>
              <a:t>don’t</a:t>
            </a:r>
            <a:r>
              <a:rPr dirty="0" spc="-40"/>
              <a:t> </a:t>
            </a:r>
            <a:r>
              <a:rPr dirty="0"/>
              <a:t>lose</a:t>
            </a:r>
            <a:r>
              <a:rPr dirty="0" spc="-40"/>
              <a:t> </a:t>
            </a:r>
            <a:r>
              <a:rPr dirty="0" spc="-10"/>
              <a:t>their</a:t>
            </a:r>
            <a:r>
              <a:rPr dirty="0" spc="-40"/>
              <a:t> </a:t>
            </a:r>
            <a:r>
              <a:rPr dirty="0"/>
              <a:t>ISO</a:t>
            </a:r>
            <a:r>
              <a:rPr dirty="0" spc="-45"/>
              <a:t> </a:t>
            </a:r>
            <a:r>
              <a:rPr dirty="0"/>
              <a:t>certiﬁcate</a:t>
            </a:r>
            <a:r>
              <a:rPr dirty="0" spc="-40"/>
              <a:t> </a:t>
            </a:r>
            <a:r>
              <a:rPr dirty="0"/>
              <a:t>because</a:t>
            </a:r>
            <a:r>
              <a:rPr dirty="0" spc="-40"/>
              <a:t> </a:t>
            </a:r>
            <a:r>
              <a:rPr dirty="0" spc="-10"/>
              <a:t>they</a:t>
            </a:r>
            <a:r>
              <a:rPr dirty="0" spc="-40"/>
              <a:t> </a:t>
            </a:r>
            <a:r>
              <a:rPr dirty="0"/>
              <a:t>fail</a:t>
            </a:r>
            <a:r>
              <a:rPr dirty="0" spc="-40"/>
              <a:t> </a:t>
            </a:r>
            <a:r>
              <a:rPr dirty="0"/>
              <a:t>an</a:t>
            </a:r>
            <a:r>
              <a:rPr dirty="0" spc="-40"/>
              <a:t> </a:t>
            </a:r>
            <a:r>
              <a:rPr dirty="0" spc="-10"/>
              <a:t>audit.</a:t>
            </a:r>
            <a:r>
              <a:rPr dirty="0" spc="-40"/>
              <a:t> </a:t>
            </a:r>
            <a:r>
              <a:rPr dirty="0" spc="-20"/>
              <a:t>They </a:t>
            </a:r>
            <a:r>
              <a:rPr dirty="0"/>
              <a:t>lose</a:t>
            </a:r>
            <a:r>
              <a:rPr dirty="0" spc="-45"/>
              <a:t> </a:t>
            </a:r>
            <a:r>
              <a:rPr dirty="0"/>
              <a:t>it</a:t>
            </a:r>
            <a:r>
              <a:rPr dirty="0" spc="-40"/>
              <a:t> </a:t>
            </a:r>
            <a:r>
              <a:rPr dirty="0"/>
              <a:t>because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system</a:t>
            </a:r>
            <a:r>
              <a:rPr dirty="0" spc="-40"/>
              <a:t> </a:t>
            </a:r>
            <a:r>
              <a:rPr dirty="0"/>
              <a:t>slowly</a:t>
            </a:r>
            <a:r>
              <a:rPr dirty="0" spc="-40"/>
              <a:t> </a:t>
            </a:r>
            <a:r>
              <a:rPr dirty="0" spc="-10"/>
              <a:t>stops</a:t>
            </a:r>
            <a:r>
              <a:rPr dirty="0" spc="-40"/>
              <a:t> </a:t>
            </a:r>
            <a:r>
              <a:rPr dirty="0" spc="-10"/>
              <a:t>matching</a:t>
            </a:r>
            <a:r>
              <a:rPr dirty="0" spc="-40"/>
              <a:t> </a:t>
            </a:r>
            <a:r>
              <a:rPr dirty="0"/>
              <a:t>how</a:t>
            </a:r>
            <a:r>
              <a:rPr dirty="0" spc="-40"/>
              <a:t> </a:t>
            </a:r>
            <a:r>
              <a:rPr dirty="0"/>
              <a:t>work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 spc="-10"/>
              <a:t>really</a:t>
            </a:r>
            <a:r>
              <a:rPr dirty="0" spc="-40"/>
              <a:t> </a:t>
            </a:r>
            <a:r>
              <a:rPr dirty="0" spc="-10"/>
              <a:t>done.</a:t>
            </a:r>
          </a:p>
          <a:p>
            <a:pPr marL="12700" marR="145415">
              <a:lnSpc>
                <a:spcPct val="114999"/>
              </a:lnSpc>
              <a:spcBef>
                <a:spcPts val="1200"/>
              </a:spcBef>
            </a:pPr>
            <a:r>
              <a:rPr dirty="0"/>
              <a:t>ISO</a:t>
            </a:r>
            <a:r>
              <a:rPr dirty="0" spc="-35"/>
              <a:t> </a:t>
            </a:r>
            <a:r>
              <a:rPr dirty="0" spc="-20"/>
              <a:t>doesn’t</a:t>
            </a:r>
            <a:r>
              <a:rPr dirty="0" spc="-35"/>
              <a:t> </a:t>
            </a:r>
            <a:r>
              <a:rPr dirty="0"/>
              <a:t>need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perfect,</a:t>
            </a:r>
            <a:r>
              <a:rPr dirty="0" spc="-35"/>
              <a:t> </a:t>
            </a:r>
            <a:r>
              <a:rPr dirty="0"/>
              <a:t>it</a:t>
            </a:r>
            <a:r>
              <a:rPr dirty="0" spc="-35"/>
              <a:t> </a:t>
            </a:r>
            <a:r>
              <a:rPr dirty="0" spc="-10"/>
              <a:t>just</a:t>
            </a:r>
            <a:r>
              <a:rPr dirty="0" spc="-35"/>
              <a:t> </a:t>
            </a:r>
            <a:r>
              <a:rPr dirty="0"/>
              <a:t>needs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/>
              <a:t>followed.</a:t>
            </a:r>
            <a:r>
              <a:rPr dirty="0" spc="-35"/>
              <a:t> </a:t>
            </a:r>
            <a:r>
              <a:rPr dirty="0"/>
              <a:t>When</a:t>
            </a:r>
            <a:r>
              <a:rPr dirty="0" spc="-35"/>
              <a:t> </a:t>
            </a:r>
            <a:r>
              <a:rPr dirty="0" spc="-10"/>
              <a:t>procedures</a:t>
            </a:r>
            <a:r>
              <a:rPr dirty="0" spc="-30"/>
              <a:t> </a:t>
            </a:r>
            <a:r>
              <a:rPr dirty="0" spc="-10"/>
              <a:t>reﬂect daily</a:t>
            </a:r>
            <a:r>
              <a:rPr dirty="0" spc="-25"/>
              <a:t> </a:t>
            </a:r>
            <a:r>
              <a:rPr dirty="0"/>
              <a:t>work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management</a:t>
            </a:r>
            <a:r>
              <a:rPr dirty="0" spc="-25"/>
              <a:t> </a:t>
            </a:r>
            <a:r>
              <a:rPr dirty="0" spc="-10"/>
              <a:t>stays</a:t>
            </a:r>
            <a:r>
              <a:rPr dirty="0" spc="-25"/>
              <a:t> </a:t>
            </a:r>
            <a:r>
              <a:rPr dirty="0" spc="-10"/>
              <a:t>involved,</a:t>
            </a:r>
            <a:r>
              <a:rPr dirty="0" spc="-25"/>
              <a:t> </a:t>
            </a:r>
            <a:r>
              <a:rPr dirty="0" spc="-10"/>
              <a:t>keeping</a:t>
            </a:r>
            <a:r>
              <a:rPr dirty="0" spc="-25"/>
              <a:t> </a:t>
            </a:r>
            <a:r>
              <a:rPr dirty="0" spc="-10"/>
              <a:t>certiﬁcation</a:t>
            </a:r>
            <a:r>
              <a:rPr dirty="0" spc="-25"/>
              <a:t> </a:t>
            </a:r>
            <a:r>
              <a:rPr dirty="0"/>
              <a:t>becomes</a:t>
            </a:r>
            <a:r>
              <a:rPr dirty="0" spc="-25"/>
              <a:t> </a:t>
            </a:r>
            <a:r>
              <a:rPr dirty="0" spc="-10"/>
              <a:t>easy.</a:t>
            </a: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b="1">
                <a:latin typeface="Roboto"/>
                <a:cs typeface="Roboto"/>
              </a:rPr>
              <a:t>Want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to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get</a:t>
            </a:r>
            <a:r>
              <a:rPr dirty="0" spc="-1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ISO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certiﬁcation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or</a:t>
            </a:r>
            <a:r>
              <a:rPr dirty="0" spc="-1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keep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your</a:t>
            </a:r>
            <a:r>
              <a:rPr dirty="0" spc="-1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existing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ISO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certiﬁcate</a:t>
            </a:r>
            <a:r>
              <a:rPr dirty="0" spc="-1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safe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in</a:t>
            </a:r>
            <a:r>
              <a:rPr dirty="0" spc="-1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Iraq?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spc="-20"/>
              <a:t>Talk</a:t>
            </a:r>
            <a:r>
              <a:rPr dirty="0" spc="-15"/>
              <a:t> </a:t>
            </a:r>
            <a:r>
              <a:rPr dirty="0" spc="-25"/>
              <a:t>to </a:t>
            </a:r>
            <a:r>
              <a:rPr dirty="0" b="1">
                <a:solidFill>
                  <a:srgbClr val="EF4D48"/>
                </a:solidFill>
                <a:latin typeface="Roboto"/>
                <a:cs typeface="Roboto"/>
                <a:hlinkClick r:id="rId3"/>
              </a:rPr>
              <a:t>Maxicert</a:t>
            </a:r>
            <a:r>
              <a:rPr dirty="0" spc="-40" b="1">
                <a:solidFill>
                  <a:srgbClr val="EF4D48"/>
                </a:solidFill>
                <a:latin typeface="Roboto"/>
                <a:cs typeface="Roboto"/>
              </a:rPr>
              <a:t> </a:t>
            </a:r>
            <a:r>
              <a:rPr dirty="0" spc="-10"/>
              <a:t>today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/>
              <a:t>simple,</a:t>
            </a:r>
            <a:r>
              <a:rPr dirty="0" spc="-40"/>
              <a:t> </a:t>
            </a:r>
            <a:r>
              <a:rPr dirty="0" spc="-10"/>
              <a:t>practical</a:t>
            </a:r>
            <a:r>
              <a:rPr dirty="0" spc="-40"/>
              <a:t> </a:t>
            </a:r>
            <a:r>
              <a:rPr dirty="0"/>
              <a:t>ISO</a:t>
            </a:r>
            <a:r>
              <a:rPr dirty="0" spc="-35"/>
              <a:t> </a:t>
            </a:r>
            <a:r>
              <a:rPr dirty="0" spc="-10"/>
              <a:t>support</a:t>
            </a:r>
            <a:r>
              <a:rPr dirty="0" spc="-40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 spc="-10"/>
              <a:t>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4D4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document</dc:title>
  <dcterms:created xsi:type="dcterms:W3CDTF">2026-07-31T12:22:17Z</dcterms:created>
  <dcterms:modified xsi:type="dcterms:W3CDTF">2026-07-31T12:22:17Z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2026-07-31T00:00:00Z</vt:filetime>
  </property>
  <property fmtid="{D5CDD505-2E9C-101B-9397-08002B2CF9AE}" pid="4" name="Producer">
    <vt:lpwstr>Skia/PDF m152 Google Docs Renderer</vt:lpwstr>
  </property>
  <property fmtid="{D5CDD505-2E9C-101B-9397-08002B2CF9AE}" pid="5" name="LastSaved">
    <vt:filetime>2026-07-31T00:00:00Z</vt:filetime>
  </property>
</Properties>
</file>