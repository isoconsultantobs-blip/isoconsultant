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1152636"/>
            <a:ext cx="5622925" cy="1184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700" y="2580520"/>
            <a:ext cx="5930900" cy="2788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opularcert.com/nigeria/iso-9001-certification-in-nigeria/" TargetMode="External"/><Relationship Id="rId3" Type="http://schemas.openxmlformats.org/officeDocument/2006/relationships/hyperlink" Target="https://popularcert.com/Nigeria/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popularcert.com/contact-us/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popularcert.com/free-iso-9001-audit-checklist-guide-2025/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/>
              <a:t>ISO</a:t>
            </a:r>
            <a:r>
              <a:rPr dirty="0" spc="-45"/>
              <a:t> </a:t>
            </a:r>
            <a:r>
              <a:rPr dirty="0"/>
              <a:t>9001</a:t>
            </a:r>
            <a:r>
              <a:rPr dirty="0" spc="-45"/>
              <a:t> </a:t>
            </a:r>
            <a:r>
              <a:rPr dirty="0"/>
              <a:t>Certification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/>
              <a:t>Nigeria:</a:t>
            </a:r>
            <a:r>
              <a:rPr dirty="0" spc="-45"/>
              <a:t> </a:t>
            </a:r>
            <a:r>
              <a:rPr dirty="0" spc="-25"/>
              <a:t>Why </a:t>
            </a:r>
            <a:r>
              <a:rPr dirty="0"/>
              <a:t>Most</a:t>
            </a:r>
            <a:r>
              <a:rPr dirty="0" spc="-30"/>
              <a:t> </a:t>
            </a:r>
            <a:r>
              <a:rPr dirty="0"/>
              <a:t>Businesses</a:t>
            </a:r>
            <a:r>
              <a:rPr dirty="0" spc="-30"/>
              <a:t> </a:t>
            </a:r>
            <a:r>
              <a:rPr dirty="0"/>
              <a:t>Fail</a:t>
            </a:r>
            <a:r>
              <a:rPr dirty="0" spc="-30"/>
              <a:t> </a:t>
            </a:r>
            <a:r>
              <a:rPr dirty="0"/>
              <a:t>(And</a:t>
            </a:r>
            <a:r>
              <a:rPr dirty="0" spc="-25"/>
              <a:t> </a:t>
            </a:r>
            <a:r>
              <a:rPr dirty="0"/>
              <a:t>How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Get</a:t>
            </a:r>
            <a:r>
              <a:rPr dirty="0" spc="-25"/>
              <a:t> It </a:t>
            </a:r>
            <a:r>
              <a:rPr dirty="0" spc="-10"/>
              <a:t>Right)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  <a:p>
            <a:pPr marL="12700" marR="5080">
              <a:lnSpc>
                <a:spcPct val="110200"/>
              </a:lnSpc>
              <a:spcBef>
                <a:spcPts val="1310"/>
              </a:spcBef>
            </a:pPr>
            <a:r>
              <a:rPr dirty="0" u="sng" sz="1100" i="1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ISO</a:t>
            </a:r>
            <a:r>
              <a:rPr dirty="0" u="sng" sz="1100" spc="-20" i="1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100" i="1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9001</a:t>
            </a:r>
            <a:r>
              <a:rPr dirty="0" u="sng" sz="1100" spc="-15" i="1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100" spc="-10" i="1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certification</a:t>
            </a:r>
            <a:r>
              <a:rPr dirty="0" sz="1100" spc="-20" i="1">
                <a:solidFill>
                  <a:srgbClr val="1154CC"/>
                </a:solidFill>
                <a:latin typeface="Arial"/>
                <a:cs typeface="Arial"/>
              </a:rPr>
              <a:t> </a:t>
            </a:r>
            <a:r>
              <a:rPr dirty="0" sz="1100" b="0">
                <a:latin typeface="Arial MT"/>
                <a:cs typeface="Arial MT"/>
              </a:rPr>
              <a:t>is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a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globally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recognised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standard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that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enables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organisations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to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establish </a:t>
            </a:r>
            <a:r>
              <a:rPr dirty="0" sz="1100" b="0">
                <a:latin typeface="Arial MT"/>
                <a:cs typeface="Arial MT"/>
              </a:rPr>
              <a:t>an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effective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Quality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Management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System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(QMS).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It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helps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businesses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consistently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deliver </a:t>
            </a:r>
            <a:r>
              <a:rPr dirty="0" sz="1100" b="0">
                <a:latin typeface="Arial MT"/>
                <a:cs typeface="Arial MT"/>
              </a:rPr>
              <a:t>products</a:t>
            </a:r>
            <a:r>
              <a:rPr dirty="0" sz="1100" spc="-3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and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services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that</a:t>
            </a:r>
            <a:r>
              <a:rPr dirty="0" sz="1100" spc="-3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meet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customer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expectations</a:t>
            </a:r>
            <a:r>
              <a:rPr dirty="0" sz="1100" spc="-3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as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well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as</a:t>
            </a:r>
            <a:r>
              <a:rPr dirty="0" sz="1100" spc="-3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regulatory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requirements.</a:t>
            </a:r>
            <a:endParaRPr sz="1100">
              <a:latin typeface="Arial MT"/>
              <a:cs typeface="Arial MT"/>
            </a:endParaRPr>
          </a:p>
          <a:p>
            <a:pPr marL="12700" marR="230504">
              <a:lnSpc>
                <a:spcPct val="110200"/>
              </a:lnSpc>
              <a:spcBef>
                <a:spcPts val="1200"/>
              </a:spcBef>
            </a:pPr>
            <a:r>
              <a:rPr dirty="0" sz="1100" b="0">
                <a:latin typeface="Arial MT"/>
                <a:cs typeface="Arial MT"/>
              </a:rPr>
              <a:t>In</a:t>
            </a:r>
            <a:r>
              <a:rPr dirty="0" sz="1100" spc="-30" b="0">
                <a:latin typeface="Arial MT"/>
                <a:cs typeface="Arial MT"/>
              </a:rPr>
              <a:t> </a:t>
            </a:r>
            <a:r>
              <a:rPr dirty="0" u="sng" sz="1100" i="1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3"/>
              </a:rPr>
              <a:t>Nigeria</a:t>
            </a:r>
            <a:r>
              <a:rPr dirty="0" sz="1100" spc="254" i="1">
                <a:solidFill>
                  <a:srgbClr val="1154CC"/>
                </a:solidFill>
                <a:latin typeface="Arial"/>
                <a:cs typeface="Arial"/>
              </a:rPr>
              <a:t> </a:t>
            </a:r>
            <a:r>
              <a:rPr dirty="0" sz="1100" b="0">
                <a:latin typeface="Arial MT"/>
                <a:cs typeface="Arial MT"/>
              </a:rPr>
              <a:t>many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organisations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actively</a:t>
            </a:r>
            <a:r>
              <a:rPr dirty="0" sz="1100" spc="-3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pursue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ISO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9001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certification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to</a:t>
            </a:r>
            <a:r>
              <a:rPr dirty="0" sz="1100" spc="-3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improve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operational </a:t>
            </a:r>
            <a:r>
              <a:rPr dirty="0" sz="1100" spc="-20" b="0">
                <a:latin typeface="Arial MT"/>
                <a:cs typeface="Arial MT"/>
              </a:rPr>
              <a:t>efficiency,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enhance</a:t>
            </a:r>
            <a:r>
              <a:rPr dirty="0" sz="1100" spc="-1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customer</a:t>
            </a:r>
            <a:r>
              <a:rPr dirty="0" sz="1100" spc="-10" b="0">
                <a:latin typeface="Arial MT"/>
                <a:cs typeface="Arial MT"/>
              </a:rPr>
              <a:t> satisfaction,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and</a:t>
            </a:r>
            <a:r>
              <a:rPr dirty="0" sz="1100" spc="-10" b="0">
                <a:latin typeface="Arial MT"/>
                <a:cs typeface="Arial MT"/>
              </a:rPr>
              <a:t> strengthen </a:t>
            </a:r>
            <a:r>
              <a:rPr dirty="0" sz="1100" b="0">
                <a:latin typeface="Arial MT"/>
                <a:cs typeface="Arial MT"/>
              </a:rPr>
              <a:t>their</a:t>
            </a:r>
            <a:r>
              <a:rPr dirty="0" sz="1100" spc="-10" b="0">
                <a:latin typeface="Arial MT"/>
                <a:cs typeface="Arial MT"/>
              </a:rPr>
              <a:t> reputation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in</a:t>
            </a:r>
            <a:r>
              <a:rPr dirty="0" sz="1100" spc="-10" b="0">
                <a:latin typeface="Arial MT"/>
                <a:cs typeface="Arial MT"/>
              </a:rPr>
              <a:t> competitive </a:t>
            </a:r>
            <a:r>
              <a:rPr dirty="0" sz="1100" b="0">
                <a:latin typeface="Arial MT"/>
                <a:cs typeface="Arial MT"/>
              </a:rPr>
              <a:t>markets.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However,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achieving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certification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is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not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always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a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smooth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journey.</a:t>
            </a:r>
            <a:endParaRPr sz="1100">
              <a:latin typeface="Arial MT"/>
              <a:cs typeface="Arial MT"/>
            </a:endParaRPr>
          </a:p>
          <a:p>
            <a:pPr marL="12700" marR="124460">
              <a:lnSpc>
                <a:spcPct val="110200"/>
              </a:lnSpc>
              <a:spcBef>
                <a:spcPts val="1200"/>
              </a:spcBef>
            </a:pPr>
            <a:r>
              <a:rPr dirty="0" sz="1100" b="0">
                <a:latin typeface="Arial MT"/>
                <a:cs typeface="Arial MT"/>
              </a:rPr>
              <a:t>A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large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number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of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Nigerian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businesses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face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challenges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such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as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poor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planning,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inadequate documentation,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and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lack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of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leadership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involvement.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These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issues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often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lead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to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delays,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failed </a:t>
            </a:r>
            <a:r>
              <a:rPr dirty="0" sz="1100" b="0">
                <a:latin typeface="Arial MT"/>
                <a:cs typeface="Arial MT"/>
              </a:rPr>
              <a:t>audits,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or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ineffective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systems.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By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understanding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common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mistakes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and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following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a</a:t>
            </a:r>
            <a:r>
              <a:rPr dirty="0" sz="1100" spc="-25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structured, </a:t>
            </a:r>
            <a:r>
              <a:rPr dirty="0" sz="1100" b="0">
                <a:latin typeface="Arial MT"/>
                <a:cs typeface="Arial MT"/>
              </a:rPr>
              <a:t>practical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approach,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organisations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can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successfully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implement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ISO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9001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and</a:t>
            </a:r>
            <a:r>
              <a:rPr dirty="0" sz="1100" spc="-1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unlock</a:t>
            </a:r>
            <a:r>
              <a:rPr dirty="0" sz="1100" spc="-2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long-</a:t>
            </a:r>
            <a:r>
              <a:rPr dirty="0" sz="1100" spc="-20" b="0">
                <a:latin typeface="Arial MT"/>
                <a:cs typeface="Arial MT"/>
              </a:rPr>
              <a:t>term </a:t>
            </a:r>
            <a:r>
              <a:rPr dirty="0" sz="1100" b="0">
                <a:latin typeface="Arial MT"/>
                <a:cs typeface="Arial MT"/>
              </a:rPr>
              <a:t>business</a:t>
            </a:r>
            <a:r>
              <a:rPr dirty="0" sz="1100" spc="-45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value</a:t>
            </a:r>
            <a:r>
              <a:rPr dirty="0" sz="1100" spc="-4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beyond</a:t>
            </a:r>
            <a:r>
              <a:rPr dirty="0" sz="1100" spc="-4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just</a:t>
            </a:r>
            <a:r>
              <a:rPr dirty="0" sz="1100" spc="-4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obtaining</a:t>
            </a:r>
            <a:r>
              <a:rPr dirty="0" sz="1100" spc="-40" b="0">
                <a:latin typeface="Arial MT"/>
                <a:cs typeface="Arial MT"/>
              </a:rPr>
              <a:t> </a:t>
            </a:r>
            <a:r>
              <a:rPr dirty="0" sz="1100" b="0">
                <a:latin typeface="Arial MT"/>
                <a:cs typeface="Arial MT"/>
              </a:rPr>
              <a:t>the</a:t>
            </a:r>
            <a:r>
              <a:rPr dirty="0" sz="1100" spc="-40" b="0">
                <a:latin typeface="Arial MT"/>
                <a:cs typeface="Arial MT"/>
              </a:rPr>
              <a:t> </a:t>
            </a:r>
            <a:r>
              <a:rPr dirty="0" sz="1100" spc="-10" b="0">
                <a:latin typeface="Arial MT"/>
                <a:cs typeface="Arial MT"/>
              </a:rPr>
              <a:t>certificate.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5645150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 h="0">
                <a:moveTo>
                  <a:pt x="0" y="0"/>
                </a:moveTo>
                <a:lnTo>
                  <a:pt x="58674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1700" y="5921074"/>
            <a:ext cx="5953760" cy="2233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Arial"/>
                <a:cs typeface="Arial"/>
              </a:rPr>
              <a:t>What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Is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ISO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9001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Certification?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0200"/>
              </a:lnSpc>
              <a:spcBef>
                <a:spcPts val="1310"/>
              </a:spcBef>
            </a:pP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internationally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recognised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standard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Quality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Management</a:t>
            </a:r>
            <a:r>
              <a:rPr dirty="0" sz="1100" spc="5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Systems.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provides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structured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framework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helps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organisations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ensure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consistency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their operations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deliver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quality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products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services.</a:t>
            </a:r>
            <a:endParaRPr sz="1100">
              <a:latin typeface="Arial MT"/>
              <a:cs typeface="Arial MT"/>
            </a:endParaRPr>
          </a:p>
          <a:p>
            <a:pPr marL="12700" marR="66040">
              <a:lnSpc>
                <a:spcPct val="110200"/>
              </a:lnSpc>
              <a:spcBef>
                <a:spcPts val="1200"/>
              </a:spcBef>
            </a:pPr>
            <a:r>
              <a:rPr dirty="0" sz="1100" spc="-10">
                <a:latin typeface="Arial MT"/>
                <a:cs typeface="Arial MT"/>
              </a:rPr>
              <a:t>Although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voluntary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standard,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widely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adopted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across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industries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because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its </a:t>
            </a:r>
            <a:r>
              <a:rPr dirty="0" sz="1100">
                <a:latin typeface="Arial MT"/>
                <a:cs typeface="Arial MT"/>
              </a:rPr>
              <a:t>strong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emphasis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customer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satisfaction,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risk-</a:t>
            </a:r>
            <a:r>
              <a:rPr dirty="0" sz="1100">
                <a:latin typeface="Arial MT"/>
                <a:cs typeface="Arial MT"/>
              </a:rPr>
              <a:t>based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thinking,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continuous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improvement.</a:t>
            </a:r>
            <a:endParaRPr sz="1100">
              <a:latin typeface="Arial MT"/>
              <a:cs typeface="Arial MT"/>
            </a:endParaRPr>
          </a:p>
          <a:p>
            <a:pPr marL="12700" marR="60960">
              <a:lnSpc>
                <a:spcPct val="110200"/>
              </a:lnSpc>
              <a:spcBef>
                <a:spcPts val="1200"/>
              </a:spcBef>
            </a:pPr>
            <a:r>
              <a:rPr dirty="0" sz="1100" spc="-10">
                <a:latin typeface="Arial MT"/>
                <a:cs typeface="Arial MT"/>
              </a:rPr>
              <a:t>Achieving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demonstrates</a:t>
            </a:r>
            <a:r>
              <a:rPr dirty="0" sz="1100">
                <a:latin typeface="Arial MT"/>
                <a:cs typeface="Arial MT"/>
              </a:rPr>
              <a:t> that an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organisation</a:t>
            </a:r>
            <a:r>
              <a:rPr dirty="0" sz="1100">
                <a:latin typeface="Arial MT"/>
                <a:cs typeface="Arial MT"/>
              </a:rPr>
              <a:t> has </a:t>
            </a:r>
            <a:r>
              <a:rPr dirty="0" sz="1100" spc="-10">
                <a:latin typeface="Arial MT"/>
                <a:cs typeface="Arial MT"/>
              </a:rPr>
              <a:t>implemented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effective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processes, </a:t>
            </a:r>
            <a:r>
              <a:rPr dirty="0" sz="1100">
                <a:latin typeface="Arial MT"/>
                <a:cs typeface="Arial MT"/>
              </a:rPr>
              <a:t>meets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regulatory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requirements,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committed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maintaining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high-</a:t>
            </a:r>
            <a:r>
              <a:rPr dirty="0" sz="1100">
                <a:latin typeface="Arial MT"/>
                <a:cs typeface="Arial MT"/>
              </a:rPr>
              <a:t>quality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standards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5">
                <a:latin typeface="Arial MT"/>
                <a:cs typeface="Arial MT"/>
              </a:rPr>
              <a:t> its </a:t>
            </a:r>
            <a:r>
              <a:rPr dirty="0" sz="1100" spc="-10">
                <a:latin typeface="Arial MT"/>
                <a:cs typeface="Arial MT"/>
              </a:rPr>
              <a:t>operations.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8707415"/>
            <a:ext cx="567436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Arial"/>
                <a:cs typeface="Arial"/>
              </a:rPr>
              <a:t>Why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Many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Nigerian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Businesses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Struggle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with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ISO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9001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75939"/>
            <a:ext cx="5946140" cy="2884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0330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Despite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importance,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many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Nigerian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organisations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encounter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difficulties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during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9001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process.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challenges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lack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active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involvement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top </a:t>
            </a:r>
            <a:r>
              <a:rPr dirty="0" sz="1100" spc="-10">
                <a:latin typeface="Arial MT"/>
                <a:cs typeface="Arial MT"/>
              </a:rPr>
              <a:t>management.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Without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leadership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support,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quality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initiatives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often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direction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fail</a:t>
            </a:r>
            <a:r>
              <a:rPr dirty="0" sz="1100" spc="-25">
                <a:latin typeface="Arial MT"/>
                <a:cs typeface="Arial MT"/>
              </a:rPr>
              <a:t> to </a:t>
            </a:r>
            <a:r>
              <a:rPr dirty="0" sz="1100">
                <a:latin typeface="Arial MT"/>
                <a:cs typeface="Arial MT"/>
              </a:rPr>
              <a:t>deliver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results.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0200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Another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major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barrier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perceived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cost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implementation.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Small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medium-sized enterprises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challenging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allocate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resources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training,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documentation,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system development.</a:t>
            </a:r>
            <a:endParaRPr sz="1100">
              <a:latin typeface="Arial MT"/>
              <a:cs typeface="Arial MT"/>
            </a:endParaRPr>
          </a:p>
          <a:p>
            <a:pPr marL="12700" marR="108585">
              <a:lnSpc>
                <a:spcPct val="110200"/>
              </a:lnSpc>
              <a:spcBef>
                <a:spcPts val="1200"/>
              </a:spcBef>
            </a:pPr>
            <a:r>
              <a:rPr dirty="0" sz="1100" spc="-10">
                <a:latin typeface="Arial MT"/>
                <a:cs typeface="Arial MT"/>
              </a:rPr>
              <a:t>Employee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resistance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change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also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common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issue.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When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staff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members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properly </a:t>
            </a:r>
            <a:r>
              <a:rPr dirty="0" sz="1100">
                <a:latin typeface="Arial MT"/>
                <a:cs typeface="Arial MT"/>
              </a:rPr>
              <a:t>trained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engaged,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view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processes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additional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work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rather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 </a:t>
            </a:r>
            <a:r>
              <a:rPr dirty="0" sz="1100" spc="-10">
                <a:latin typeface="Arial MT"/>
                <a:cs typeface="Arial MT"/>
              </a:rPr>
              <a:t>improvement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tool.</a:t>
            </a:r>
            <a:endParaRPr sz="1100">
              <a:latin typeface="Arial MT"/>
              <a:cs typeface="Arial MT"/>
            </a:endParaRPr>
          </a:p>
          <a:p>
            <a:pPr algn="just" marL="12700" marR="90805">
              <a:lnSpc>
                <a:spcPct val="110200"/>
              </a:lnSpc>
              <a:spcBef>
                <a:spcPts val="1200"/>
              </a:spcBef>
            </a:pPr>
            <a:r>
              <a:rPr dirty="0" sz="1100" spc="-20">
                <a:latin typeface="Arial MT"/>
                <a:cs typeface="Arial MT"/>
              </a:rPr>
              <a:t>Additionally,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many</a:t>
            </a:r>
            <a:r>
              <a:rPr dirty="0" sz="1100" spc="-10">
                <a:latin typeface="Arial MT"/>
                <a:cs typeface="Arial MT"/>
              </a:rPr>
              <a:t> businesses misunderstand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0">
                <a:latin typeface="Arial MT"/>
                <a:cs typeface="Arial MT"/>
              </a:rPr>
              <a:t> one-</a:t>
            </a:r>
            <a:r>
              <a:rPr dirty="0" sz="1100">
                <a:latin typeface="Arial MT"/>
                <a:cs typeface="Arial MT"/>
              </a:rPr>
              <a:t>time</a:t>
            </a:r>
            <a:r>
              <a:rPr dirty="0" sz="1100" spc="-10">
                <a:latin typeface="Arial MT"/>
                <a:cs typeface="Arial MT"/>
              </a:rPr>
              <a:t> certification </a:t>
            </a:r>
            <a:r>
              <a:rPr dirty="0" sz="1100">
                <a:latin typeface="Arial MT"/>
                <a:cs typeface="Arial MT"/>
              </a:rPr>
              <a:t>instead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 </a:t>
            </a:r>
            <a:r>
              <a:rPr dirty="0" sz="1100" spc="-10">
                <a:latin typeface="Arial MT"/>
                <a:cs typeface="Arial MT"/>
              </a:rPr>
              <a:t>continuous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improvement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system.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mindset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often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results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poor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implementation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lack</a:t>
            </a:r>
            <a:r>
              <a:rPr dirty="0" sz="1100" spc="-25">
                <a:latin typeface="Arial MT"/>
                <a:cs typeface="Arial MT"/>
              </a:rPr>
              <a:t> of </a:t>
            </a:r>
            <a:r>
              <a:rPr dirty="0" sz="1100" spc="-10">
                <a:latin typeface="Arial MT"/>
                <a:cs typeface="Arial MT"/>
              </a:rPr>
              <a:t>long-</a:t>
            </a:r>
            <a:r>
              <a:rPr dirty="0" sz="1100">
                <a:latin typeface="Arial MT"/>
                <a:cs typeface="Arial MT"/>
              </a:rPr>
              <a:t>term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sustainability.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4312837"/>
            <a:ext cx="5915660" cy="4276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Arial"/>
                <a:cs typeface="Arial"/>
              </a:rPr>
              <a:t>The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Real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Purpose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of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ISO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9001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(Beyond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Certification)</a:t>
            </a:r>
            <a:endParaRPr sz="1700">
              <a:latin typeface="Arial"/>
              <a:cs typeface="Arial"/>
            </a:endParaRPr>
          </a:p>
          <a:p>
            <a:pPr marL="12700" marR="5715">
              <a:lnSpc>
                <a:spcPct val="110200"/>
              </a:lnSpc>
              <a:spcBef>
                <a:spcPts val="1310"/>
              </a:spcBef>
            </a:pPr>
            <a:r>
              <a:rPr dirty="0" u="sng" sz="1100" b="1" i="1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ISO</a:t>
            </a:r>
            <a:r>
              <a:rPr dirty="0" u="sng" sz="1100" spc="-25" b="1" i="1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100" b="1" i="1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9001</a:t>
            </a:r>
            <a:r>
              <a:rPr dirty="0" sz="1100" spc="-25" b="1" i="1">
                <a:solidFill>
                  <a:srgbClr val="1154CC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more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just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marketing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compliance—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strategic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framework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drives</a:t>
            </a:r>
            <a:r>
              <a:rPr dirty="0" sz="1100" spc="-10">
                <a:latin typeface="Arial MT"/>
                <a:cs typeface="Arial MT"/>
              </a:rPr>
              <a:t> organisational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improvement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10">
                <a:latin typeface="Arial MT"/>
                <a:cs typeface="Arial MT"/>
              </a:rPr>
              <a:t> sustainable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growth.</a:t>
            </a:r>
            <a:endParaRPr sz="1100">
              <a:latin typeface="Arial MT"/>
              <a:cs typeface="Arial MT"/>
            </a:endParaRPr>
          </a:p>
          <a:p>
            <a:pPr marL="12700" marR="168275">
              <a:lnSpc>
                <a:spcPct val="110200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While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some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businesses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pursue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meet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customer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requirements,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true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value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of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lies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transforming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operations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building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strong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quality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culture.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latin typeface="Arial"/>
                <a:cs typeface="Arial"/>
              </a:rPr>
              <a:t>Improving</a:t>
            </a:r>
            <a:r>
              <a:rPr dirty="0" sz="1300" spc="-7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Quality</a:t>
            </a:r>
            <a:r>
              <a:rPr dirty="0" sz="1300" spc="-7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and</a:t>
            </a:r>
            <a:r>
              <a:rPr dirty="0" sz="1300" spc="-7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Customer</a:t>
            </a:r>
            <a:r>
              <a:rPr dirty="0" sz="1300" spc="-7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Satisfaction</a:t>
            </a:r>
            <a:endParaRPr sz="1300">
              <a:latin typeface="Arial"/>
              <a:cs typeface="Arial"/>
            </a:endParaRPr>
          </a:p>
          <a:p>
            <a:pPr marL="12700" marR="19685">
              <a:lnSpc>
                <a:spcPct val="110200"/>
              </a:lnSpc>
              <a:spcBef>
                <a:spcPts val="1240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standard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encourages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organisations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prioritise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customer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needs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continuously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enhance </a:t>
            </a:r>
            <a:r>
              <a:rPr dirty="0" sz="1100">
                <a:latin typeface="Arial MT"/>
                <a:cs typeface="Arial MT"/>
              </a:rPr>
              <a:t>their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offerings.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By</a:t>
            </a:r>
            <a:r>
              <a:rPr dirty="0" sz="1100" spc="-10">
                <a:latin typeface="Arial MT"/>
                <a:cs typeface="Arial MT"/>
              </a:rPr>
              <a:t> analysing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feedback,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complaints,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performance </a:t>
            </a:r>
            <a:r>
              <a:rPr dirty="0" sz="1100">
                <a:latin typeface="Arial MT"/>
                <a:cs typeface="Arial MT"/>
              </a:rPr>
              <a:t>metrics,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businesses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can </a:t>
            </a:r>
            <a:r>
              <a:rPr dirty="0" sz="1100">
                <a:latin typeface="Arial MT"/>
                <a:cs typeface="Arial MT"/>
              </a:rPr>
              <a:t>make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data-</a:t>
            </a:r>
            <a:r>
              <a:rPr dirty="0" sz="1100">
                <a:latin typeface="Arial MT"/>
                <a:cs typeface="Arial MT"/>
              </a:rPr>
              <a:t>driven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improvements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increase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customer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satisfaction.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latin typeface="Arial"/>
                <a:cs typeface="Arial"/>
              </a:rPr>
              <a:t>Establishing</a:t>
            </a:r>
            <a:r>
              <a:rPr dirty="0" sz="1300" spc="-2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Consistent</a:t>
            </a:r>
            <a:r>
              <a:rPr dirty="0" sz="1300" spc="-1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Processes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10200"/>
              </a:lnSpc>
              <a:spcBef>
                <a:spcPts val="1240"/>
              </a:spcBef>
            </a:pP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promotes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creation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standardised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well-</a:t>
            </a:r>
            <a:r>
              <a:rPr dirty="0" sz="1100" spc="-10">
                <a:latin typeface="Arial MT"/>
                <a:cs typeface="Arial MT"/>
              </a:rPr>
              <a:t>documented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processes.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ensures consistency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operations,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reduces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variability,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improves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overall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efficiency.</a:t>
            </a:r>
            <a:endParaRPr sz="1100">
              <a:latin typeface="Arial MT"/>
              <a:cs typeface="Arial MT"/>
            </a:endParaRPr>
          </a:p>
          <a:p>
            <a:pPr marL="12700" marR="338455">
              <a:lnSpc>
                <a:spcPct val="110200"/>
              </a:lnSpc>
              <a:spcBef>
                <a:spcPts val="1195"/>
              </a:spcBef>
            </a:pP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also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supports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proactive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risk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management,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allowing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organisations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identify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address potential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issues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before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escalate.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latin typeface="Arial"/>
                <a:cs typeface="Arial"/>
              </a:rPr>
              <a:t>Driving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spc="-20" b="1">
                <a:latin typeface="Arial"/>
                <a:cs typeface="Arial"/>
              </a:rPr>
              <a:t>Long-Term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Growth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75939"/>
            <a:ext cx="5910580" cy="1101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8585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framework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based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Plan-Do-Check-</a:t>
            </a:r>
            <a:r>
              <a:rPr dirty="0" sz="1100">
                <a:latin typeface="Arial MT"/>
                <a:cs typeface="Arial MT"/>
              </a:rPr>
              <a:t>Act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(PDCA)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cycle,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which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fosters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continuous improvement.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strengthens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internal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communication,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improves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decision-</a:t>
            </a:r>
            <a:r>
              <a:rPr dirty="0" sz="1100">
                <a:latin typeface="Arial MT"/>
                <a:cs typeface="Arial MT"/>
              </a:rPr>
              <a:t>making,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supports sustainable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business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growth.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0200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When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implemented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effectively,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becomes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valuable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management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tool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rather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just</a:t>
            </a:r>
            <a:r>
              <a:rPr dirty="0" sz="1100" spc="5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compliance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requirement.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530137"/>
            <a:ext cx="5954395" cy="2814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Arial"/>
                <a:cs typeface="Arial"/>
              </a:rPr>
              <a:t>Common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Mistakes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That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Lead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to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Failure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 sz="1300" b="1">
                <a:latin typeface="Arial"/>
                <a:cs typeface="Arial"/>
              </a:rPr>
              <a:t>Weak</a:t>
            </a:r>
            <a:r>
              <a:rPr dirty="0" sz="1300" spc="-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Planning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and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Undefined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spc="-20" b="1">
                <a:latin typeface="Arial"/>
                <a:cs typeface="Arial"/>
              </a:rPr>
              <a:t>Scope</a:t>
            </a:r>
            <a:endParaRPr sz="1300">
              <a:latin typeface="Arial"/>
              <a:cs typeface="Arial"/>
            </a:endParaRPr>
          </a:p>
          <a:p>
            <a:pPr marL="12700" marR="106045">
              <a:lnSpc>
                <a:spcPct val="110200"/>
              </a:lnSpc>
              <a:spcBef>
                <a:spcPts val="1240"/>
              </a:spcBef>
            </a:pPr>
            <a:r>
              <a:rPr dirty="0" sz="1100">
                <a:latin typeface="Arial MT"/>
                <a:cs typeface="Arial MT"/>
              </a:rPr>
              <a:t>One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most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common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reasons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failure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inadequate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planning.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Many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organisations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begin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without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clearly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defining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their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scope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understanding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their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business processes.</a:t>
            </a:r>
            <a:endParaRPr sz="1100">
              <a:latin typeface="Arial MT"/>
              <a:cs typeface="Arial MT"/>
            </a:endParaRPr>
          </a:p>
          <a:p>
            <a:pPr marL="12700" marR="8255">
              <a:lnSpc>
                <a:spcPct val="110200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results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inefficient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workflows,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increased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costs,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higher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chances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errors.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absence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measurable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quality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objectives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further</a:t>
            </a:r>
            <a:r>
              <a:rPr dirty="0" sz="1100" spc="-10">
                <a:latin typeface="Arial MT"/>
                <a:cs typeface="Arial MT"/>
              </a:rPr>
              <a:t> complicates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situation,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making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difficult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track </a:t>
            </a:r>
            <a:r>
              <a:rPr dirty="0" sz="1100">
                <a:latin typeface="Arial MT"/>
                <a:cs typeface="Arial MT"/>
              </a:rPr>
              <a:t>progress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evaluate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success.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0200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Ignoring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risk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management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another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critical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mistake.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Without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identifying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risks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early,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minor</a:t>
            </a:r>
            <a:r>
              <a:rPr dirty="0" sz="1100" spc="500">
                <a:latin typeface="Arial MT"/>
                <a:cs typeface="Arial MT"/>
              </a:rPr>
              <a:t>  </a:t>
            </a:r>
            <a:r>
              <a:rPr dirty="0" sz="1100">
                <a:latin typeface="Arial MT"/>
                <a:cs typeface="Arial MT"/>
              </a:rPr>
              <a:t>issues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develop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into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significant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problems.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Poor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planning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often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leads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missed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deadlines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and </a:t>
            </a:r>
            <a:r>
              <a:rPr dirty="0" sz="1100" spc="-10">
                <a:latin typeface="Arial MT"/>
                <a:cs typeface="Arial MT"/>
              </a:rPr>
              <a:t>unsuccessful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implementation.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5849692"/>
            <a:ext cx="5772785" cy="1793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Poor</a:t>
            </a:r>
            <a:r>
              <a:rPr dirty="0" sz="1300" spc="-2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Documentation</a:t>
            </a:r>
            <a:r>
              <a:rPr dirty="0" sz="1300" spc="-2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Practices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1100" spc="-10">
                <a:latin typeface="Arial MT"/>
                <a:cs typeface="Arial MT"/>
              </a:rPr>
              <a:t>Documentation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key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requirement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yet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many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businesses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struggle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area.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0200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Using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generic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templates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reflect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actual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operations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lead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confusion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audit </a:t>
            </a:r>
            <a:r>
              <a:rPr dirty="0" sz="1100">
                <a:latin typeface="Arial MT"/>
                <a:cs typeface="Arial MT"/>
              </a:rPr>
              <a:t>failures.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Outdated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incomplete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records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make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compliance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difficult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disrupt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daily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activities.</a:t>
            </a:r>
            <a:endParaRPr sz="1100">
              <a:latin typeface="Arial MT"/>
              <a:cs typeface="Arial MT"/>
            </a:endParaRPr>
          </a:p>
          <a:p>
            <a:pPr algn="just" marL="12700" marR="250190">
              <a:lnSpc>
                <a:spcPct val="110200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Lack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proper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version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control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another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issue,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multiple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document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versions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create inconsistencies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errors.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Additionally,</a:t>
            </a:r>
            <a:r>
              <a:rPr dirty="0" sz="1100" spc="-10">
                <a:latin typeface="Arial MT"/>
                <a:cs typeface="Arial MT"/>
              </a:rPr>
              <a:t> insufficient documentation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processes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makes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it </a:t>
            </a:r>
            <a:r>
              <a:rPr dirty="0" sz="1100" spc="-10">
                <a:latin typeface="Arial MT"/>
                <a:cs typeface="Arial MT"/>
              </a:rPr>
              <a:t>difficult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auditors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verify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compliance.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8148581"/>
            <a:ext cx="5581650" cy="750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Lack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of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Management</a:t>
            </a:r>
            <a:r>
              <a:rPr dirty="0" sz="1300" spc="-3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Commitment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10200"/>
              </a:lnSpc>
              <a:spcBef>
                <a:spcPts val="1235"/>
              </a:spcBef>
            </a:pPr>
            <a:r>
              <a:rPr dirty="0" sz="1100">
                <a:latin typeface="Arial MT"/>
                <a:cs typeface="Arial MT"/>
              </a:rPr>
              <a:t>Strong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leadership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involvement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essential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successful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implementation.</a:t>
            </a:r>
            <a:r>
              <a:rPr dirty="0" sz="1100" spc="-20">
                <a:latin typeface="Arial MT"/>
                <a:cs typeface="Arial MT"/>
              </a:rPr>
              <a:t> When </a:t>
            </a:r>
            <a:r>
              <a:rPr dirty="0" sz="1100" spc="-10">
                <a:latin typeface="Arial MT"/>
                <a:cs typeface="Arial MT"/>
              </a:rPr>
              <a:t>management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actively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engaged,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projects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often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face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delays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lack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clear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direction.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75937"/>
            <a:ext cx="5930900" cy="916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10">
                <a:latin typeface="Arial MT"/>
                <a:cs typeface="Arial MT"/>
              </a:rPr>
              <a:t>Treating</a:t>
            </a:r>
            <a:r>
              <a:rPr dirty="0" u="sng" sz="1100" spc="-5" b="1" i="1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100" b="1" i="1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ISO</a:t>
            </a:r>
            <a:r>
              <a:rPr dirty="0" u="sng" sz="1100" spc="-30" b="1" i="1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100" b="1" i="1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"/>
                <a:cs typeface="Arial"/>
                <a:hlinkClick r:id="rId2"/>
              </a:rPr>
              <a:t>9001</a:t>
            </a:r>
            <a:r>
              <a:rPr dirty="0" sz="1100" spc="-30" b="1" i="1">
                <a:solidFill>
                  <a:srgbClr val="1154CC"/>
                </a:solidFill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formality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instead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integrating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organisation’s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strategy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leads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to </a:t>
            </a:r>
            <a:r>
              <a:rPr dirty="0" sz="1100" spc="-10">
                <a:latin typeface="Arial MT"/>
                <a:cs typeface="Arial MT"/>
              </a:rPr>
              <a:t>ineffective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implementation.</a:t>
            </a:r>
            <a:endParaRPr sz="1100">
              <a:latin typeface="Arial MT"/>
              <a:cs typeface="Arial MT"/>
            </a:endParaRPr>
          </a:p>
          <a:p>
            <a:pPr marL="12700" marR="325755">
              <a:lnSpc>
                <a:spcPct val="110200"/>
              </a:lnSpc>
              <a:spcBef>
                <a:spcPts val="1200"/>
              </a:spcBef>
            </a:pPr>
            <a:r>
              <a:rPr dirty="0" sz="1100" spc="-10">
                <a:latin typeface="Arial MT"/>
                <a:cs typeface="Arial MT"/>
              </a:rPr>
              <a:t>Insufficient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allocation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resources,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including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budget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training,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further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impacts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progress. Organisations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focus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only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short-</a:t>
            </a:r>
            <a:r>
              <a:rPr dirty="0" sz="1100">
                <a:latin typeface="Arial MT"/>
                <a:cs typeface="Arial MT"/>
              </a:rPr>
              <a:t>term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gains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often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fail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achieve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long-</a:t>
            </a:r>
            <a:r>
              <a:rPr dirty="0" sz="1100">
                <a:latin typeface="Arial MT"/>
                <a:cs typeface="Arial MT"/>
              </a:rPr>
              <a:t>term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success.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345401"/>
            <a:ext cx="5620385" cy="1553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Arial"/>
                <a:cs typeface="Arial"/>
              </a:rPr>
              <a:t>A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Practical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Roadmap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to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Get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ISO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9001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Right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 sz="1300" b="1">
                <a:latin typeface="Arial"/>
                <a:cs typeface="Arial"/>
              </a:rPr>
              <a:t>Step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1: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Understand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 spc="-20" b="1">
                <a:latin typeface="Arial"/>
                <a:cs typeface="Arial"/>
              </a:rPr>
              <a:t>Your</a:t>
            </a:r>
            <a:r>
              <a:rPr dirty="0" sz="1300" spc="-4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Business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Processes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10200"/>
              </a:lnSpc>
              <a:spcBef>
                <a:spcPts val="1240"/>
              </a:spcBef>
            </a:pPr>
            <a:r>
              <a:rPr dirty="0" sz="1100">
                <a:latin typeface="Arial MT"/>
                <a:cs typeface="Arial MT"/>
              </a:rPr>
              <a:t>Start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mapping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your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key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processes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workflows.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Identify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how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tasks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performed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and </a:t>
            </a:r>
            <a:r>
              <a:rPr dirty="0" sz="1100">
                <a:latin typeface="Arial MT"/>
                <a:cs typeface="Arial MT"/>
              </a:rPr>
              <a:t>where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improvements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needed.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step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also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involves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recognising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potential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risks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opportunities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improvement.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4404131"/>
            <a:ext cx="5783580" cy="1087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Step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2: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Build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</a:t>
            </a:r>
            <a:r>
              <a:rPr dirty="0" sz="1300" spc="-3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Simple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and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Effective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spc="-25" b="1">
                <a:latin typeface="Arial"/>
                <a:cs typeface="Arial"/>
              </a:rPr>
              <a:t>QMS</a:t>
            </a:r>
            <a:endParaRPr sz="1300">
              <a:latin typeface="Arial"/>
              <a:cs typeface="Arial"/>
            </a:endParaRPr>
          </a:p>
          <a:p>
            <a:pPr marL="12700" marR="535305">
              <a:lnSpc>
                <a:spcPct val="110200"/>
              </a:lnSpc>
              <a:spcBef>
                <a:spcPts val="1235"/>
              </a:spcBef>
            </a:pPr>
            <a:r>
              <a:rPr dirty="0" sz="1100">
                <a:latin typeface="Arial MT"/>
                <a:cs typeface="Arial MT"/>
              </a:rPr>
              <a:t>Develop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practical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policies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procedures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easy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follow.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Avoid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unnecessary complexity,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overly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complicated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systems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difficult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maintain.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goal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create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system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supports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daily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operations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rather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adding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extra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burden.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5996406"/>
            <a:ext cx="5744845" cy="1272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Step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3: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Train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and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Engage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Employees</a:t>
            </a:r>
            <a:endParaRPr sz="1300">
              <a:latin typeface="Arial"/>
              <a:cs typeface="Arial"/>
            </a:endParaRPr>
          </a:p>
          <a:p>
            <a:pPr marL="12700" marR="54610">
              <a:lnSpc>
                <a:spcPct val="110200"/>
              </a:lnSpc>
              <a:spcBef>
                <a:spcPts val="1235"/>
              </a:spcBef>
            </a:pPr>
            <a:r>
              <a:rPr dirty="0" sz="1100" spc="-10">
                <a:latin typeface="Arial MT"/>
                <a:cs typeface="Arial MT"/>
              </a:rPr>
              <a:t>Employee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involvement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crucial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success.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Ensure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staff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members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understand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their </a:t>
            </a:r>
            <a:r>
              <a:rPr dirty="0" sz="1100">
                <a:latin typeface="Arial MT"/>
                <a:cs typeface="Arial MT"/>
              </a:rPr>
              <a:t>roles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within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QMS.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0200"/>
              </a:lnSpc>
              <a:spcBef>
                <a:spcPts val="1200"/>
              </a:spcBef>
            </a:pPr>
            <a:r>
              <a:rPr dirty="0" sz="1100" spc="-10">
                <a:latin typeface="Arial MT"/>
                <a:cs typeface="Arial MT"/>
              </a:rPr>
              <a:t>Encourage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accountability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create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culture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where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employees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actively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contribute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quality improvement.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7773420"/>
            <a:ext cx="5690870" cy="1087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Step</a:t>
            </a:r>
            <a:r>
              <a:rPr dirty="0" sz="1300" spc="-6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4:</a:t>
            </a:r>
            <a:r>
              <a:rPr dirty="0" sz="1300" spc="-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Conduct</a:t>
            </a:r>
            <a:r>
              <a:rPr dirty="0" sz="1300" spc="-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Internal</a:t>
            </a:r>
            <a:r>
              <a:rPr dirty="0" sz="1300" spc="-6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Audits</a:t>
            </a:r>
            <a:r>
              <a:rPr dirty="0" sz="1300" spc="-5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and</a:t>
            </a:r>
            <a:r>
              <a:rPr dirty="0" sz="1300" spc="-5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Improvements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1100">
                <a:latin typeface="Arial MT"/>
                <a:cs typeface="Arial MT"/>
              </a:rPr>
              <a:t>Regular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internal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audits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help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assess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system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performance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identify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gaps.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0200"/>
              </a:lnSpc>
              <a:spcBef>
                <a:spcPts val="1200"/>
              </a:spcBef>
            </a:pPr>
            <a:r>
              <a:rPr dirty="0" sz="1100" spc="-10">
                <a:latin typeface="Arial MT"/>
                <a:cs typeface="Arial MT"/>
              </a:rPr>
              <a:t>Addressing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issues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before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audit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increases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chances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success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and </a:t>
            </a:r>
            <a:r>
              <a:rPr dirty="0" sz="1100">
                <a:latin typeface="Arial MT"/>
                <a:cs typeface="Arial MT"/>
              </a:rPr>
              <a:t>ensures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system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effectiveness.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254000"/>
            <a:ext cx="5887085" cy="1087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Step</a:t>
            </a:r>
            <a:r>
              <a:rPr dirty="0" sz="1300" spc="-2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5:</a:t>
            </a:r>
            <a:r>
              <a:rPr dirty="0" sz="1300" spc="-2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Certification</a:t>
            </a:r>
            <a:r>
              <a:rPr dirty="0" sz="1300" spc="-25" b="1">
                <a:latin typeface="Arial"/>
                <a:cs typeface="Arial"/>
              </a:rPr>
              <a:t> </a:t>
            </a:r>
            <a:r>
              <a:rPr dirty="0" sz="1300" spc="-20" b="1">
                <a:latin typeface="Arial"/>
                <a:cs typeface="Arial"/>
              </a:rPr>
              <a:t>Audit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1100">
                <a:latin typeface="Arial MT"/>
                <a:cs typeface="Arial MT"/>
              </a:rPr>
              <a:t>Work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accredited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body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complete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final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audit.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0200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Ensure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documentation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accurate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your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processes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functioning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effectively.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 </a:t>
            </a:r>
            <a:r>
              <a:rPr dirty="0" sz="1100">
                <a:latin typeface="Arial MT"/>
                <a:cs typeface="Arial MT"/>
              </a:rPr>
              <a:t>successful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audit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confirms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compliance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requirements.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2893925"/>
            <a:ext cx="5908040" cy="5067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Arial"/>
                <a:cs typeface="Arial"/>
              </a:rPr>
              <a:t>Benefits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of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Getting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ISO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9001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Right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 sz="1300" b="1">
                <a:latin typeface="Arial"/>
                <a:cs typeface="Arial"/>
              </a:rPr>
              <a:t>Improved</a:t>
            </a:r>
            <a:r>
              <a:rPr dirty="0" sz="1300" spc="-8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Efficiency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1100" spc="-10">
                <a:latin typeface="Arial MT"/>
                <a:cs typeface="Arial MT"/>
              </a:rPr>
              <a:t>Streamlined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processes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enhance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productivity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reduce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operational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delays.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latin typeface="Arial"/>
                <a:cs typeface="Arial"/>
              </a:rPr>
              <a:t>Cost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Reduction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1100">
                <a:latin typeface="Arial MT"/>
                <a:cs typeface="Arial MT"/>
              </a:rPr>
              <a:t>Better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resource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management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helps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minimise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waste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reduce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expenses.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latin typeface="Arial"/>
                <a:cs typeface="Arial"/>
              </a:rPr>
              <a:t>Consistent</a:t>
            </a:r>
            <a:r>
              <a:rPr dirty="0" sz="1300" spc="-2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Performance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1100" spc="-10">
                <a:latin typeface="Arial MT"/>
                <a:cs typeface="Arial MT"/>
              </a:rPr>
              <a:t>Standardised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procedures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ensure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reliable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outcomes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reduce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errors.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b="1">
                <a:latin typeface="Arial"/>
                <a:cs typeface="Arial"/>
              </a:rPr>
              <a:t>Better</a:t>
            </a:r>
            <a:r>
              <a:rPr dirty="0" sz="1300" spc="20" b="1">
                <a:latin typeface="Arial"/>
                <a:cs typeface="Arial"/>
              </a:rPr>
              <a:t> </a:t>
            </a:r>
            <a:r>
              <a:rPr dirty="0" sz="1300" spc="-20" b="1">
                <a:latin typeface="Arial"/>
                <a:cs typeface="Arial"/>
              </a:rPr>
              <a:t>Decision-</a:t>
            </a:r>
            <a:r>
              <a:rPr dirty="0" sz="1300" spc="-10" b="1">
                <a:latin typeface="Arial"/>
                <a:cs typeface="Arial"/>
              </a:rPr>
              <a:t>Making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1100" spc="-10">
                <a:latin typeface="Arial MT"/>
                <a:cs typeface="Arial MT"/>
              </a:rPr>
              <a:t>Data-</a:t>
            </a:r>
            <a:r>
              <a:rPr dirty="0" sz="1100">
                <a:latin typeface="Arial MT"/>
                <a:cs typeface="Arial MT"/>
              </a:rPr>
              <a:t>driven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approaches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enable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organisations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make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informed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effective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decisions.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latin typeface="Arial"/>
                <a:cs typeface="Arial"/>
              </a:rPr>
              <a:t>Increased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Business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Opportunities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10200"/>
              </a:lnSpc>
              <a:spcBef>
                <a:spcPts val="1240"/>
              </a:spcBef>
            </a:pP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enhances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credibility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often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required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large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contracts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tenders, opening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new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opportunities.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latin typeface="Arial"/>
                <a:cs typeface="Arial"/>
              </a:rPr>
              <a:t>Continuous</a:t>
            </a:r>
            <a:r>
              <a:rPr dirty="0" sz="1300" spc="-2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Improvement</a:t>
            </a:r>
            <a:endParaRPr sz="1300">
              <a:latin typeface="Arial"/>
              <a:cs typeface="Arial"/>
            </a:endParaRPr>
          </a:p>
          <a:p>
            <a:pPr marL="12700" marR="213995">
              <a:lnSpc>
                <a:spcPct val="110200"/>
              </a:lnSpc>
              <a:spcBef>
                <a:spcPts val="1240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PDCA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cycle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ensures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ongoing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evaluation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improvement,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helping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organisations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adapt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grow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over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time.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8514221"/>
            <a:ext cx="410273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Arial"/>
                <a:cs typeface="Arial"/>
              </a:rPr>
              <a:t>Cost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of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ISO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9001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Certification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in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Nigeria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75937"/>
            <a:ext cx="5869305" cy="162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cost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varies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depending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several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factors,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including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size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</a:t>
            </a:r>
            <a:r>
              <a:rPr dirty="0" sz="1100" spc="-10">
                <a:latin typeface="Arial MT"/>
                <a:cs typeface="Arial MT"/>
              </a:rPr>
              <a:t>organisation,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number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employees,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complexity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processes,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number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locations.</a:t>
            </a:r>
            <a:endParaRPr sz="1100">
              <a:latin typeface="Arial MT"/>
              <a:cs typeface="Arial MT"/>
            </a:endParaRPr>
          </a:p>
          <a:p>
            <a:pPr algn="just" marL="12700" marR="331470">
              <a:lnSpc>
                <a:spcPct val="110200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There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fixed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pricing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structure.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Organisations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must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typically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provide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details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about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their operations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 spc="-20">
                <a:latin typeface="Arial MT"/>
                <a:cs typeface="Arial MT"/>
              </a:rPr>
              <a:t> body, </a:t>
            </a:r>
            <a:r>
              <a:rPr dirty="0" sz="1100">
                <a:latin typeface="Arial MT"/>
                <a:cs typeface="Arial MT"/>
              </a:rPr>
              <a:t>which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offers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customised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quote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based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specific requirements.</a:t>
            </a:r>
            <a:endParaRPr sz="1100">
              <a:latin typeface="Arial MT"/>
              <a:cs typeface="Arial MT"/>
            </a:endParaRPr>
          </a:p>
          <a:p>
            <a:pPr algn="just" marL="12700" marR="379730">
              <a:lnSpc>
                <a:spcPct val="110200"/>
              </a:lnSpc>
              <a:spcBef>
                <a:spcPts val="1200"/>
              </a:spcBef>
            </a:pPr>
            <a:r>
              <a:rPr dirty="0" sz="1100" spc="-10">
                <a:latin typeface="Arial MT"/>
                <a:cs typeface="Arial MT"/>
              </a:rPr>
              <a:t>Businesses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choose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cost-effective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solutions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align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their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needs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while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ensuring compliance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standards.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3052012"/>
            <a:ext cx="5796280" cy="1738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Arial"/>
                <a:cs typeface="Arial"/>
              </a:rPr>
              <a:t>Expert</a:t>
            </a:r>
            <a:r>
              <a:rPr dirty="0" sz="1700" spc="-75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Tips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to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Avoid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Certification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Failure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 sz="1300" b="1">
                <a:latin typeface="Arial"/>
                <a:cs typeface="Arial"/>
              </a:rPr>
              <a:t>Keep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the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System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Simple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and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Practical</a:t>
            </a:r>
            <a:endParaRPr sz="1300">
              <a:latin typeface="Arial"/>
              <a:cs typeface="Arial"/>
            </a:endParaRPr>
          </a:p>
          <a:p>
            <a:pPr marL="12700" marR="384175">
              <a:lnSpc>
                <a:spcPct val="110200"/>
              </a:lnSpc>
              <a:spcBef>
                <a:spcPts val="1240"/>
              </a:spcBef>
            </a:pPr>
            <a:r>
              <a:rPr dirty="0" sz="1100">
                <a:latin typeface="Arial MT"/>
                <a:cs typeface="Arial MT"/>
              </a:rPr>
              <a:t>Avoid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using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generic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templates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do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not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reflect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your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actual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operations.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Instead,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create customised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documentation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tailored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your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processes.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0200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Focus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simplicity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usability,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ensuring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system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supports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daily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activities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rather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than </a:t>
            </a:r>
            <a:r>
              <a:rPr dirty="0" sz="1100" spc="-10">
                <a:latin typeface="Arial MT"/>
                <a:cs typeface="Arial MT"/>
              </a:rPr>
              <a:t>complicating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them.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5295478"/>
            <a:ext cx="5260975" cy="1087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Ensure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Strong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Management</a:t>
            </a:r>
            <a:r>
              <a:rPr dirty="0" sz="1300" spc="-4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Involvement</a:t>
            </a:r>
            <a:endParaRPr sz="1300">
              <a:latin typeface="Arial"/>
              <a:cs typeface="Arial"/>
            </a:endParaRPr>
          </a:p>
          <a:p>
            <a:pPr marL="12700" marR="180975">
              <a:lnSpc>
                <a:spcPct val="110200"/>
              </a:lnSpc>
              <a:spcBef>
                <a:spcPts val="1235"/>
              </a:spcBef>
            </a:pPr>
            <a:r>
              <a:rPr dirty="0" sz="1100" spc="-10">
                <a:latin typeface="Arial MT"/>
                <a:cs typeface="Arial MT"/>
              </a:rPr>
              <a:t>Leadership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should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actively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participate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implementation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process.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Assign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clear responsibilities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include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updates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regular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management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meetings.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latin typeface="Arial MT"/>
                <a:cs typeface="Arial MT"/>
              </a:rPr>
              <a:t>Providing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sufficient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resources,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including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budget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training,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essential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success.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6887759"/>
            <a:ext cx="5930900" cy="1456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Work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b="1">
                <a:latin typeface="Arial"/>
                <a:cs typeface="Arial"/>
              </a:rPr>
              <a:t>with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Experienced</a:t>
            </a:r>
            <a:r>
              <a:rPr dirty="0" sz="1300" spc="-35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Consultants</a:t>
            </a:r>
            <a:endParaRPr sz="1300">
              <a:latin typeface="Arial"/>
              <a:cs typeface="Arial"/>
            </a:endParaRPr>
          </a:p>
          <a:p>
            <a:pPr marL="12700" marR="5080">
              <a:lnSpc>
                <a:spcPct val="110200"/>
              </a:lnSpc>
              <a:spcBef>
                <a:spcPts val="1235"/>
              </a:spcBef>
            </a:pPr>
            <a:r>
              <a:rPr dirty="0" sz="1100" spc="-10">
                <a:latin typeface="Arial MT"/>
                <a:cs typeface="Arial MT"/>
              </a:rPr>
              <a:t>Experienced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consultants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simplify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improve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your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chances</a:t>
            </a:r>
            <a:r>
              <a:rPr dirty="0" sz="1100" spc="-25">
                <a:latin typeface="Arial MT"/>
                <a:cs typeface="Arial MT"/>
              </a:rPr>
              <a:t> of </a:t>
            </a:r>
            <a:r>
              <a:rPr dirty="0" sz="1100">
                <a:latin typeface="Arial MT"/>
                <a:cs typeface="Arial MT"/>
              </a:rPr>
              <a:t>success.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They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provide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expert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guidance,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conduct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gap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analyses,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ensure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proper implementation.</a:t>
            </a:r>
            <a:endParaRPr sz="1100">
              <a:latin typeface="Arial MT"/>
              <a:cs typeface="Arial MT"/>
            </a:endParaRPr>
          </a:p>
          <a:p>
            <a:pPr marL="12700" marR="221615">
              <a:lnSpc>
                <a:spcPct val="110200"/>
              </a:lnSpc>
              <a:spcBef>
                <a:spcPts val="1200"/>
              </a:spcBef>
            </a:pPr>
            <a:r>
              <a:rPr dirty="0" sz="1100" spc="-10">
                <a:latin typeface="Arial MT"/>
                <a:cs typeface="Arial MT"/>
              </a:rPr>
              <a:t>However,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important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maintain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ethical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practices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ensuring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consultants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involved</a:t>
            </a:r>
            <a:r>
              <a:rPr dirty="0" sz="1100" spc="-25">
                <a:latin typeface="Arial MT"/>
                <a:cs typeface="Arial MT"/>
              </a:rPr>
              <a:t> in </a:t>
            </a:r>
            <a:r>
              <a:rPr dirty="0" sz="1100" spc="-10">
                <a:latin typeface="Arial MT"/>
                <a:cs typeface="Arial MT"/>
              </a:rPr>
              <a:t>implementation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are not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responsible</a:t>
            </a:r>
            <a:r>
              <a:rPr dirty="0" sz="1100">
                <a:latin typeface="Arial MT"/>
                <a:cs typeface="Arial MT"/>
              </a:rPr>
              <a:t> for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audits.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88311"/>
            <a:ext cx="5814695" cy="333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latin typeface="Arial"/>
                <a:cs typeface="Arial"/>
              </a:rPr>
              <a:t>Conclusion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0200"/>
              </a:lnSpc>
              <a:spcBef>
                <a:spcPts val="1310"/>
              </a:spcBef>
            </a:pP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powerful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tool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10">
                <a:latin typeface="Arial MT"/>
                <a:cs typeface="Arial MT"/>
              </a:rPr>
              <a:t> improving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quality,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efficiency,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customer satisfaction.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While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many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Nigerian businesses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face</a:t>
            </a:r>
            <a:r>
              <a:rPr dirty="0" sz="1100" spc="-10">
                <a:latin typeface="Arial MT"/>
                <a:cs typeface="Arial MT"/>
              </a:rPr>
              <a:t> challenges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during</a:t>
            </a:r>
            <a:r>
              <a:rPr dirty="0" sz="1100" spc="-10">
                <a:latin typeface="Arial MT"/>
                <a:cs typeface="Arial MT"/>
              </a:rPr>
              <a:t> implementation, these </a:t>
            </a:r>
            <a:r>
              <a:rPr dirty="0" sz="1100">
                <a:latin typeface="Arial MT"/>
                <a:cs typeface="Arial MT"/>
              </a:rPr>
              <a:t>obstacles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overcome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proper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planning,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strong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leadership,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practical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approach.</a:t>
            </a:r>
            <a:endParaRPr sz="1100">
              <a:latin typeface="Arial MT"/>
              <a:cs typeface="Arial MT"/>
            </a:endParaRPr>
          </a:p>
          <a:p>
            <a:pPr marL="12700" marR="201295">
              <a:lnSpc>
                <a:spcPct val="110200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By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focusing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building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effective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Quality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Management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System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rather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just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obtaining certification,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organisations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unlock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long-</a:t>
            </a:r>
            <a:r>
              <a:rPr dirty="0" sz="1100">
                <a:latin typeface="Arial MT"/>
                <a:cs typeface="Arial MT"/>
              </a:rPr>
              <a:t>term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benefits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achieve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sustainable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growth.</a:t>
            </a:r>
            <a:endParaRPr sz="1100">
              <a:latin typeface="Arial MT"/>
              <a:cs typeface="Arial MT"/>
            </a:endParaRPr>
          </a:p>
          <a:p>
            <a:pPr marL="12700" marR="253365">
              <a:lnSpc>
                <a:spcPct val="110200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right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strategy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expert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support,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businesses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successfully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achieve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9001 </a:t>
            </a:r>
            <a:r>
              <a:rPr dirty="0" sz="1100" spc="-10">
                <a:latin typeface="Arial MT"/>
                <a:cs typeface="Arial MT"/>
              </a:rPr>
              <a:t>certification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10">
                <a:latin typeface="Arial MT"/>
                <a:cs typeface="Arial MT"/>
              </a:rPr>
              <a:t> strengthen </a:t>
            </a:r>
            <a:r>
              <a:rPr dirty="0" sz="1100">
                <a:latin typeface="Arial MT"/>
                <a:cs typeface="Arial MT"/>
              </a:rPr>
              <a:t>their</a:t>
            </a:r>
            <a:r>
              <a:rPr dirty="0" sz="1100" spc="-10">
                <a:latin typeface="Arial MT"/>
                <a:cs typeface="Arial MT"/>
              </a:rPr>
              <a:t> position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market.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300" spc="-20" b="1">
                <a:latin typeface="Arial"/>
                <a:cs typeface="Arial"/>
              </a:rPr>
              <a:t>FAQs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1100" b="1">
                <a:latin typeface="Arial"/>
                <a:cs typeface="Arial"/>
              </a:rPr>
              <a:t>1.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What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is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main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purpose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of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ISO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9001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certification?</a:t>
            </a:r>
            <a:endParaRPr sz="1100">
              <a:latin typeface="Arial"/>
              <a:cs typeface="Arial"/>
            </a:endParaRPr>
          </a:p>
          <a:p>
            <a:pPr marL="12700" marR="268605" indent="38735">
              <a:lnSpc>
                <a:spcPct val="110200"/>
              </a:lnSpc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purpose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help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organisations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establish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structured </a:t>
            </a:r>
            <a:r>
              <a:rPr dirty="0" sz="1100">
                <a:latin typeface="Arial MT"/>
                <a:cs typeface="Arial MT"/>
              </a:rPr>
              <a:t>Quality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Management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System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(QMS)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ensures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consistent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product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service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quality, </a:t>
            </a:r>
            <a:r>
              <a:rPr dirty="0" sz="1100">
                <a:latin typeface="Arial MT"/>
                <a:cs typeface="Arial MT"/>
              </a:rPr>
              <a:t>improves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customer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satisfaction,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supports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continuous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improvement.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4688815"/>
            <a:ext cx="5783580" cy="76454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b="1">
                <a:latin typeface="Arial"/>
                <a:cs typeface="Arial"/>
              </a:rPr>
              <a:t>2.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Why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do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many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businesses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Nigeria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fail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to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achieve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ISO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9001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certification?</a:t>
            </a:r>
            <a:endParaRPr sz="1100">
              <a:latin typeface="Arial"/>
              <a:cs typeface="Arial"/>
            </a:endParaRPr>
          </a:p>
          <a:p>
            <a:pPr marL="12700" marR="5080" indent="38735">
              <a:lnSpc>
                <a:spcPct val="110200"/>
              </a:lnSpc>
            </a:pPr>
            <a:r>
              <a:rPr dirty="0" sz="1100">
                <a:latin typeface="Arial MT"/>
                <a:cs typeface="Arial MT"/>
              </a:rPr>
              <a:t>Many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businesses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fail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due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poor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planning,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lack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management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involvement, </a:t>
            </a:r>
            <a:r>
              <a:rPr dirty="0" sz="1100" spc="-20">
                <a:latin typeface="Arial MT"/>
                <a:cs typeface="Arial MT"/>
              </a:rPr>
              <a:t>weak </a:t>
            </a:r>
            <a:r>
              <a:rPr dirty="0" sz="1100" spc="-10">
                <a:latin typeface="Arial MT"/>
                <a:cs typeface="Arial MT"/>
              </a:rPr>
              <a:t>documentation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practices,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insufficient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employee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training.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Treating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one-</a:t>
            </a:r>
            <a:r>
              <a:rPr dirty="0" sz="1100" spc="-20">
                <a:latin typeface="Arial MT"/>
                <a:cs typeface="Arial MT"/>
              </a:rPr>
              <a:t>time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rather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ongoing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also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contributes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failure.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5917304"/>
            <a:ext cx="5511800" cy="76454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b="1">
                <a:latin typeface="Arial"/>
                <a:cs typeface="Arial"/>
              </a:rPr>
              <a:t>3.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How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long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does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it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take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to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get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ISO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9001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certification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Nigeria?</a:t>
            </a:r>
            <a:endParaRPr sz="1100">
              <a:latin typeface="Arial"/>
              <a:cs typeface="Arial"/>
            </a:endParaRPr>
          </a:p>
          <a:p>
            <a:pPr algn="just" marL="12700" marR="5080" indent="38735">
              <a:lnSpc>
                <a:spcPct val="110200"/>
              </a:lnSpc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timeline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varies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depending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organisation’s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size,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complexity,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readiness.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On </a:t>
            </a:r>
            <a:r>
              <a:rPr dirty="0" sz="1100">
                <a:latin typeface="Arial MT"/>
                <a:cs typeface="Arial MT"/>
              </a:rPr>
              <a:t>average,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take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anywhere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few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weeks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several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months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fully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implement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</a:t>
            </a:r>
            <a:r>
              <a:rPr dirty="0" sz="1100">
                <a:latin typeface="Arial MT"/>
                <a:cs typeface="Arial MT"/>
              </a:rPr>
              <a:t>system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pass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audit.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7145800"/>
            <a:ext cx="5888990" cy="76454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b="1">
                <a:latin typeface="Arial"/>
                <a:cs typeface="Arial"/>
              </a:rPr>
              <a:t>4.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Is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ISO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9001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certification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worth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it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for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small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businesses?</a:t>
            </a:r>
            <a:endParaRPr sz="1100">
              <a:latin typeface="Arial"/>
              <a:cs typeface="Arial"/>
            </a:endParaRPr>
          </a:p>
          <a:p>
            <a:pPr algn="just" marL="12700" marR="5080" indent="38735">
              <a:lnSpc>
                <a:spcPct val="110200"/>
              </a:lnSpc>
            </a:pPr>
            <a:r>
              <a:rPr dirty="0" sz="1100" spc="-20">
                <a:latin typeface="Arial MT"/>
                <a:cs typeface="Arial MT"/>
              </a:rPr>
              <a:t>Yes,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9001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certification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highly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beneficial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small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businesses.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helps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improve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efficiency, </a:t>
            </a:r>
            <a:r>
              <a:rPr dirty="0" sz="1100">
                <a:latin typeface="Arial MT"/>
                <a:cs typeface="Arial MT"/>
              </a:rPr>
              <a:t>build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customer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trust,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reduce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operational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errors,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open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opportunities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larger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contracts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and </a:t>
            </a:r>
            <a:r>
              <a:rPr dirty="0" sz="1100" spc="-10">
                <a:latin typeface="Arial MT"/>
                <a:cs typeface="Arial MT"/>
              </a:rPr>
              <a:t>partnerships.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154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 9001 Certification in Nigeria: Why Most Businesses Fail (And How to Get It Right)</dc:title>
  <dcterms:created xsi:type="dcterms:W3CDTF">2026-04-13T12:22:45Z</dcterms:created>
  <dcterms:modified xsi:type="dcterms:W3CDTF">2026-04-13T12:22:45Z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2026-04-13T00:00:00Z</vt:filetime>
  </property>
  <property fmtid="{D5CDD505-2E9C-101B-9397-08002B2CF9AE}" pid="4" name="Producer">
    <vt:lpwstr>Skia/PDF m148 Google Docs Renderer</vt:lpwstr>
  </property>
  <property fmtid="{D5CDD505-2E9C-101B-9397-08002B2CF9AE}" pid="5" name="LastSaved">
    <vt:filetime>2026-04-13T00:00:00Z</vt:filetime>
  </property>
</Properties>
</file>